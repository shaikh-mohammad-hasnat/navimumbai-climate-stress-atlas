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SAY: "Good morning ma'am. I am Hasnat Shaikh. My project is Urban Climate Stress Mapping of Navi Mumbai, using Google Earth Engine and QGIS. It looks at heat, green cover and flood risk for each ward of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SAY: "The problem is that heat, green cover and flooding are not the same in every ward. In April 2026, satellite data show ward average temperatures from 33.7 to 47.6 degrees — a gap of almost 14 degrees inside one city. Only 26 percent of the area is tree cover, and 33 percent is built-up. And on 26 May 2025, Nerul got 155.7 millimetres of rain, and Belapur 133.9, and roads and the APMC market flooded."
SAY: "So this project combines heat, green cover and flood risk into one score for each of the 111 wards, to show where the stresses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SAY: "The aim is to measure heat, green cover and flood susceptibility for the 111 wards of Navi Mumbai and combine them into one index, the Urban Climate Stress Index, or UCSI."
SAY: "The objectives are: prepare the ward boundaries and a GeoPackage database; get heat, green cover and built-up data from satellites; score flood susceptibility and combine all three; and run ten queries and make the final maps. The study area is Navi Mumbai — 111 wards, about 123 square kilometres."
NOTE if asked about the 8 ward offices: the ward polygons carry ward numbers only, and I could not get a reliable ward-to-office list, so results are reported by ward. It can be added later as one text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SAY: "All the data is free. Heat comes from Landsat 8 and 9 thermal bands, green cover from Sentinel-2, built-up land from ESA WorldCover, and flood factors from SRTM elevation and water bodies."
SAY: "I collected the data for April 2026, calculated the mean of each indicator for every ward, and then QGIS scores each indicator from one to five. The Urban Climate Stress Index is the average of heat, green-cover deficit and flood score. The flood score itself is a weighted sum: elevation 43 percent, distance to water 27, slope 16, built-up 14. The consistency ratio is 0.017, well under 0.1."
IF ASKED ABOUT GOOGLE EARTH ENGINE: the project folder has five Earth Engine scripts for the same steps. They are written from the official dataset pages but I have not run them yet; the delivered rasters came from the same public datasets processed with Python. Running them and comparing the numbers is the next step.
IF ASKED WHY NO RAINFALL: rainfall data has 5-km pixels, so only about four cover the city; it cannot separate 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"These maps come from my QGIS project. Map A is surface heat in April 2026, from three Landsat dates. Map B is vegetation, from Sentinel-2. Map C is land cover. Map D is the stress index for each ward; darker red means higher stress."
SAY: "Three numbers stand out. Ward temperatures differ by almost 14 degrees. The more built-up land in a ward, the hotter it is — correlation plus 0.76 — and the more vegetation, the cooler — minus 0.75. And the 23 wards with the highest stress cover only 8 square kilometres, about 7 percent of the city."
HONEST LIMITS: one season, ward level. Dry hill slopes also look hot in April. A second season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SAY: "Everything is stored in one GeoPackage: the 111 wards, water bodies, major roads, hospitals, three flood reports, a table of ward temperature by date, and the rasters. Two relations link the tables through the ward number."
SAY: "I ran five attribute queries and five spatial queries in QGIS. For example, 30 wards are 80 percent or more built-up, 24 have vegetation below 0.2, and 23 average 45 degrees or more. Spatially, 78 wards are within 200 metres of a major road, and only 8 of the 93 mapped hospitals are inside the 23 highest-stress wards. The APMC market that was waterlogged in May 2025 is in ward 57, which also ranks second in the index."
EXTRA: a raster overlay shows 18.9 square kilometres — about 15 percent of the city — is both 45 degrees or hotter and low in vegetation. Wards 57 and 66 are in the top quarter for heat, green-cover deficit and flood at the same time.
JARGON: attribute query = search the table; spatial query = search by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SAY: "The project is built: a QGIS project, a GeoPackage, nine rasters, ten thematic maps, the final stress map, eleven query result pages and a practical report. Next I want to run the Google Earth Engine scripts and compare the numbers, add a monsoon-season image, and add the official ward-office list."
SAY: "In conclusion, stress is concentrated in a few dense wards. Twenty-three wards cover only about eight square kilometres but are the hottest, the most built-up and the least green. The index is a planning aid that compares wards; it is not a prediction. Thank you — suggestions are welcome."
Then stop and let mam speak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read the source column if asked where a number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how scores work and the sensitivity check. Rank correlation near 1 means the ward ranking hardly changes when the weights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every limit has a plan. Be upfront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274320"/>
          </a:xfrm>
          <a:prstGeom prst="rect">
            <a:avLst/>
          </a:prstGeom>
          <a:noFill/>
          <a:ln/>
        </p:spPr>
        <p:txBody>
          <a:bodyPr wrap="square" lIns="0" tIns="0" rIns="0" bIns="0" rtlCol="0" anchor="t"/>
          <a:lstStyle/>
          <a:p>
            <a:pPr indent="0" marL="0">
              <a:buNone/>
            </a:pPr>
            <a:r>
              <a:rPr lang="en-US" sz="1200" b="1" spc="400" kern="0" dirty="0">
                <a:solidFill>
                  <a:srgbClr val="F59E0B"/>
                </a:solidFill>
                <a:latin typeface="Calibri" pitchFamily="34" charset="0"/>
                <a:ea typeface="Calibri" pitchFamily="34" charset="-122"/>
                <a:cs typeface="Calibri" pitchFamily="34" charset="-120"/>
              </a:rPr>
              <a:t>GIS  ·  CA 3 PRESENTATION</a:t>
            </a:r>
            <a:endParaRPr lang="en-US" sz="1200" dirty="0"/>
          </a:p>
        </p:txBody>
      </p:sp>
      <p:sp>
        <p:nvSpPr>
          <p:cNvPr id="3" name="Text 1"/>
          <p:cNvSpPr txBox="1"/>
          <p:nvPr/>
        </p:nvSpPr>
        <p:spPr>
          <a:xfrm>
            <a:off x="548640" y="1280160"/>
            <a:ext cx="7223760" cy="182880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Urban Climate Stress Mapping of Navi Mumbai</a:t>
            </a:r>
            <a:endParaRPr lang="en-US" sz="4200" dirty="0"/>
          </a:p>
        </p:txBody>
      </p:sp>
      <p:sp>
        <p:nvSpPr>
          <p:cNvPr id="4" name="Text 2"/>
          <p:cNvSpPr txBox="1"/>
          <p:nvPr/>
        </p:nvSpPr>
        <p:spPr>
          <a:xfrm>
            <a:off x="548640" y="3246120"/>
            <a:ext cx="7223760" cy="411480"/>
          </a:xfrm>
          <a:prstGeom prst="rect">
            <a:avLst/>
          </a:prstGeom>
          <a:noFill/>
          <a:ln/>
        </p:spPr>
        <p:txBody>
          <a:bodyPr wrap="square" lIns="0" tIns="0" rIns="0" bIns="0" rtlCol="0" anchor="t"/>
          <a:lstStyle/>
          <a:p>
            <a:pPr indent="0" marL="0">
              <a:buNone/>
            </a:pPr>
            <a:r>
              <a:rPr lang="en-US" sz="2100" dirty="0">
                <a:solidFill>
                  <a:srgbClr val="E2E8F0"/>
                </a:solidFill>
                <a:latin typeface="Calibri" pitchFamily="34" charset="0"/>
                <a:ea typeface="Calibri" pitchFamily="34" charset="-122"/>
                <a:cs typeface="Calibri" pitchFamily="34" charset="-120"/>
              </a:rPr>
              <a:t>Heat, green cover and flood risk, ward by ward</a:t>
            </a:r>
            <a:endParaRPr lang="en-US" sz="2100" dirty="0"/>
          </a:p>
        </p:txBody>
      </p:sp>
      <p:sp>
        <p:nvSpPr>
          <p:cNvPr id="5" name="Text 3"/>
          <p:cNvSpPr txBox="1"/>
          <p:nvPr/>
        </p:nvSpPr>
        <p:spPr>
          <a:xfrm>
            <a:off x="548640" y="3703320"/>
            <a:ext cx="7223760" cy="365760"/>
          </a:xfrm>
          <a:prstGeom prst="rect">
            <a:avLst/>
          </a:prstGeom>
          <a:noFill/>
          <a:ln/>
        </p:spPr>
        <p:txBody>
          <a:bodyPr wrap="square" lIns="0" tIns="0" rIns="0" bIns="0" rtlCol="0" anchor="t"/>
          <a:lstStyle/>
          <a:p>
            <a:pPr indent="0" marL="0">
              <a:buNone/>
            </a:pPr>
            <a:r>
              <a:rPr lang="en-US" sz="1600" dirty="0">
                <a:solidFill>
                  <a:srgbClr val="F59E0B"/>
                </a:solidFill>
                <a:latin typeface="Calibri" pitchFamily="34" charset="0"/>
                <a:ea typeface="Calibri" pitchFamily="34" charset="-122"/>
                <a:cs typeface="Calibri" pitchFamily="34" charset="-120"/>
              </a:rPr>
              <a:t>Using Google Earth Engine and QGIS</a:t>
            </a:r>
            <a:endParaRPr lang="en-US" sz="1600" dirty="0"/>
          </a:p>
        </p:txBody>
      </p:sp>
      <p:sp>
        <p:nvSpPr>
          <p:cNvPr id="6" name="Shape 4"/>
          <p:cNvSpPr/>
          <p:nvPr/>
        </p:nvSpPr>
        <p:spPr>
          <a:xfrm>
            <a:off x="548640" y="4343400"/>
            <a:ext cx="1097280" cy="256032"/>
          </a:xfrm>
          <a:prstGeom prst="roundRect">
            <a:avLst>
              <a:gd name="adj" fmla="val 50000"/>
            </a:avLst>
          </a:prstGeom>
          <a:solidFill>
            <a:srgbClr val="EA580C"/>
          </a:solidFill>
          <a:ln w="12700">
            <a:solidFill>
              <a:srgbClr val="EA580C"/>
            </a:solidFill>
            <a:prstDash val="solid"/>
          </a:ln>
        </p:spPr>
      </p:sp>
      <p:sp>
        <p:nvSpPr>
          <p:cNvPr id="7" name="Text 5"/>
          <p:cNvSpPr txBox="1"/>
          <p:nvPr/>
        </p:nvSpPr>
        <p:spPr>
          <a:xfrm>
            <a:off x="548640" y="4343400"/>
            <a:ext cx="109728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Heat</a:t>
            </a:r>
            <a:endParaRPr lang="en-US" sz="1050" dirty="0"/>
          </a:p>
        </p:txBody>
      </p:sp>
      <p:sp>
        <p:nvSpPr>
          <p:cNvPr id="8" name="Shape 6"/>
          <p:cNvSpPr/>
          <p:nvPr/>
        </p:nvSpPr>
        <p:spPr>
          <a:xfrm>
            <a:off x="1783080" y="4343400"/>
            <a:ext cx="1463040" cy="256032"/>
          </a:xfrm>
          <a:prstGeom prst="roundRect">
            <a:avLst>
              <a:gd name="adj" fmla="val 50000"/>
            </a:avLst>
          </a:prstGeom>
          <a:solidFill>
            <a:srgbClr val="16A34A"/>
          </a:solidFill>
          <a:ln w="12700">
            <a:solidFill>
              <a:srgbClr val="16A34A"/>
            </a:solidFill>
            <a:prstDash val="solid"/>
          </a:ln>
        </p:spPr>
      </p:sp>
      <p:sp>
        <p:nvSpPr>
          <p:cNvPr id="9" name="Text 7"/>
          <p:cNvSpPr txBox="1"/>
          <p:nvPr/>
        </p:nvSpPr>
        <p:spPr>
          <a:xfrm>
            <a:off x="1783080" y="4343400"/>
            <a:ext cx="14630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Green cover</a:t>
            </a:r>
            <a:endParaRPr lang="en-US" sz="1050" dirty="0"/>
          </a:p>
        </p:txBody>
      </p:sp>
      <p:sp>
        <p:nvSpPr>
          <p:cNvPr id="10" name="Shape 8"/>
          <p:cNvSpPr/>
          <p:nvPr/>
        </p:nvSpPr>
        <p:spPr>
          <a:xfrm>
            <a:off x="3383280" y="4343400"/>
            <a:ext cx="1097280" cy="256032"/>
          </a:xfrm>
          <a:prstGeom prst="roundRect">
            <a:avLst>
              <a:gd name="adj" fmla="val 50000"/>
            </a:avLst>
          </a:prstGeom>
          <a:solidFill>
            <a:srgbClr val="2563EB"/>
          </a:solidFill>
          <a:ln w="12700">
            <a:solidFill>
              <a:srgbClr val="2563EB"/>
            </a:solidFill>
            <a:prstDash val="solid"/>
          </a:ln>
        </p:spPr>
      </p:sp>
      <p:sp>
        <p:nvSpPr>
          <p:cNvPr id="11" name="Text 9"/>
          <p:cNvSpPr txBox="1"/>
          <p:nvPr/>
        </p:nvSpPr>
        <p:spPr>
          <a:xfrm>
            <a:off x="3383280" y="4343400"/>
            <a:ext cx="109728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Flood</a:t>
            </a:r>
            <a:endParaRPr lang="en-US" sz="1050" dirty="0"/>
          </a:p>
        </p:txBody>
      </p:sp>
      <p:sp>
        <p:nvSpPr>
          <p:cNvPr id="12" name="Shape 10"/>
          <p:cNvSpPr/>
          <p:nvPr/>
        </p:nvSpPr>
        <p:spPr>
          <a:xfrm>
            <a:off x="548640" y="4892040"/>
            <a:ext cx="4023360" cy="868680"/>
          </a:xfrm>
          <a:prstGeom prst="roundRect">
            <a:avLst>
              <a:gd name="adj" fmla="val 14737"/>
            </a:avLst>
          </a:prstGeom>
          <a:solidFill>
            <a:srgbClr val="1E293B"/>
          </a:solidFill>
          <a:ln w="12700">
            <a:solidFill>
              <a:srgbClr val="1E293B"/>
            </a:solidFill>
            <a:prstDash val="solid"/>
          </a:ln>
        </p:spPr>
      </p:sp>
      <p:sp>
        <p:nvSpPr>
          <p:cNvPr id="13" name="Text 11"/>
          <p:cNvSpPr txBox="1"/>
          <p:nvPr/>
        </p:nvSpPr>
        <p:spPr>
          <a:xfrm>
            <a:off x="777240" y="4992624"/>
            <a:ext cx="36576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Hasnat Shaikh</a:t>
            </a:r>
            <a:endParaRPr lang="en-US" sz="1800" dirty="0"/>
          </a:p>
        </p:txBody>
      </p:sp>
      <p:sp>
        <p:nvSpPr>
          <p:cNvPr id="14" name="Text 12"/>
          <p:cNvSpPr txBox="1"/>
          <p:nvPr/>
        </p:nvSpPr>
        <p:spPr>
          <a:xfrm>
            <a:off x="777240" y="5358384"/>
            <a:ext cx="3657600" cy="274320"/>
          </a:xfrm>
          <a:prstGeom prst="rect">
            <a:avLst/>
          </a:prstGeom>
          <a:noFill/>
          <a:ln/>
        </p:spPr>
        <p:txBody>
          <a:bodyPr wrap="square" lIns="0" tIns="0" rIns="0" bIns="0" rtlCol="0" anchor="t"/>
          <a:lstStyle/>
          <a:p>
            <a:pPr indent="0" marL="0">
              <a:buNone/>
            </a:pPr>
            <a:r>
              <a:rPr lang="en-US" sz="1250" dirty="0">
                <a:solidFill>
                  <a:srgbClr val="F59E0B"/>
                </a:solidFill>
                <a:latin typeface="Calibri" pitchFamily="34" charset="0"/>
                <a:ea typeface="Calibri" pitchFamily="34" charset="-122"/>
                <a:cs typeface="Calibri" pitchFamily="34" charset="-120"/>
              </a:rPr>
              <a:t>Roll No. 2405003</a:t>
            </a:r>
            <a:endParaRPr lang="en-US" sz="1250" dirty="0"/>
          </a:p>
        </p:txBody>
      </p:sp>
      <p:sp>
        <p:nvSpPr>
          <p:cNvPr id="15" name="Text 13"/>
          <p:cNvSpPr txBox="1"/>
          <p:nvPr/>
        </p:nvSpPr>
        <p:spPr>
          <a:xfrm>
            <a:off x="548640" y="6053328"/>
            <a:ext cx="8229600" cy="2743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MGM University  ·  B.Tech IT, Semester 5  ·  Faculty: Vijaya Ahire  ·  30 September 2026</a:t>
            </a:r>
            <a:endParaRPr lang="en-US" sz="1100" dirty="0"/>
          </a:p>
        </p:txBody>
      </p:sp>
      <p:sp>
        <p:nvSpPr>
          <p:cNvPr id="16" name="Shape 14"/>
          <p:cNvSpPr/>
          <p:nvPr/>
        </p:nvSpPr>
        <p:spPr>
          <a:xfrm>
            <a:off x="8183880" y="411480"/>
            <a:ext cx="3200400" cy="5212080"/>
          </a:xfrm>
          <a:prstGeom prst="roundRect">
            <a:avLst>
              <a:gd name="adj" fmla="val 4000"/>
            </a:avLst>
          </a:prstGeom>
          <a:solidFill>
            <a:srgbClr val="FFFFFF"/>
          </a:solidFill>
          <a:ln w="12700">
            <a:solidFill>
              <a:srgbClr val="FFFFFF"/>
            </a:solidFill>
            <a:prstDash val="solid"/>
          </a:ln>
        </p:spPr>
      </p:sp>
      <p:pic>
        <p:nvPicPr>
          <p:cNvPr id="17" name="Image 0" descr="C:/Users/farha/AppData/Local/Temp/claude/G--5-Claude-Chats-college/081d4375-70ed-43ee-a64d-1d2d6cb50bb2/scratchpad/hasnat/out/hero_qgis.png">    </p:cNvPr>
          <p:cNvPicPr>
            <a:picLocks noChangeAspect="1"/>
          </p:cNvPicPr>
          <p:nvPr/>
        </p:nvPicPr>
        <p:blipFill>
          <a:blip r:embed="rId1"/>
          <a:stretch>
            <a:fillRect/>
          </a:stretch>
        </p:blipFill>
        <p:spPr>
          <a:xfrm>
            <a:off x="8830120" y="548640"/>
            <a:ext cx="1907919" cy="4937760"/>
          </a:xfrm>
          <a:prstGeom prst="rect">
            <a:avLst/>
          </a:prstGeom>
        </p:spPr>
      </p:pic>
      <p:sp>
        <p:nvSpPr>
          <p:cNvPr id="18" name="Text 15"/>
          <p:cNvSpPr txBox="1"/>
          <p:nvPr/>
        </p:nvSpPr>
        <p:spPr>
          <a:xfrm>
            <a:off x="8229600" y="5669280"/>
            <a:ext cx="3108960" cy="457200"/>
          </a:xfrm>
          <a:prstGeom prst="rect">
            <a:avLst/>
          </a:prstGeom>
          <a:noFill/>
          <a:ln/>
        </p:spPr>
        <p:txBody>
          <a:bodyPr wrap="square" lIns="0" tIns="0" rIns="0" bIns="0" rtlCol="0" anchor="t"/>
          <a:lstStyle/>
          <a:p>
            <a:pPr algn="ctr" indent="0" marL="0">
              <a:buNone/>
            </a:pPr>
            <a:r>
              <a:rPr lang="en-US" sz="1050" i="1" dirty="0">
                <a:solidFill>
                  <a:srgbClr val="94A3B8"/>
                </a:solidFill>
                <a:latin typeface="Calibri" pitchFamily="34" charset="0"/>
                <a:ea typeface="Calibri" pitchFamily="34" charset="-122"/>
                <a:cs typeface="Calibri" pitchFamily="34" charset="-120"/>
              </a:rPr>
              <a:t>Combined stress by ward</a:t>
            </a:r>
            <a:endParaRPr lang="en-US" sz="1050" dirty="0"/>
          </a:p>
          <a:p>
            <a:pPr algn="ctr" indent="0" marL="0">
              <a:buNone/>
            </a:pPr>
            <a:r>
              <a:rPr lang="en-US" sz="1050" i="1" dirty="0">
                <a:solidFill>
                  <a:srgbClr val="94A3B8"/>
                </a:solidFill>
                <a:latin typeface="Calibri" pitchFamily="34" charset="0"/>
                <a:ea typeface="Calibri" pitchFamily="34" charset="-122"/>
                <a:cs typeface="Calibri" pitchFamily="34" charset="-120"/>
              </a:rPr>
              <a:t>(QGIS map, April 2026)</a:t>
            </a:r>
            <a:endParaRPr lang="en-US" sz="1050" dirty="0"/>
          </a:p>
        </p:txBody>
      </p:sp>
      <p:sp>
        <p:nvSpPr>
          <p:cNvPr id="19" name="Shape 16"/>
          <p:cNvSpPr/>
          <p:nvPr/>
        </p:nvSpPr>
        <p:spPr>
          <a:xfrm>
            <a:off x="9098280" y="6199632"/>
            <a:ext cx="274320" cy="128016"/>
          </a:xfrm>
          <a:prstGeom prst="rect">
            <a:avLst/>
          </a:prstGeom>
          <a:solidFill>
            <a:srgbClr val="FFF6DC"/>
          </a:solidFill>
          <a:ln w="12700">
            <a:solidFill>
              <a:srgbClr val="FFF6DC"/>
            </a:solidFill>
            <a:prstDash val="solid"/>
          </a:ln>
        </p:spPr>
      </p:sp>
      <p:sp>
        <p:nvSpPr>
          <p:cNvPr id="20" name="Shape 17"/>
          <p:cNvSpPr/>
          <p:nvPr/>
        </p:nvSpPr>
        <p:spPr>
          <a:xfrm>
            <a:off x="9372600" y="6199632"/>
            <a:ext cx="274320" cy="128016"/>
          </a:xfrm>
          <a:prstGeom prst="rect">
            <a:avLst/>
          </a:prstGeom>
          <a:solidFill>
            <a:srgbClr val="FDD49E"/>
          </a:solidFill>
          <a:ln w="12700">
            <a:solidFill>
              <a:srgbClr val="FDD49E"/>
            </a:solidFill>
            <a:prstDash val="solid"/>
          </a:ln>
        </p:spPr>
      </p:sp>
      <p:sp>
        <p:nvSpPr>
          <p:cNvPr id="21" name="Shape 18"/>
          <p:cNvSpPr/>
          <p:nvPr/>
        </p:nvSpPr>
        <p:spPr>
          <a:xfrm>
            <a:off x="9646920" y="6199632"/>
            <a:ext cx="274320" cy="128016"/>
          </a:xfrm>
          <a:prstGeom prst="rect">
            <a:avLst/>
          </a:prstGeom>
          <a:solidFill>
            <a:srgbClr val="FC8D59"/>
          </a:solidFill>
          <a:ln w="12700">
            <a:solidFill>
              <a:srgbClr val="FC8D59"/>
            </a:solidFill>
            <a:prstDash val="solid"/>
          </a:ln>
        </p:spPr>
      </p:sp>
      <p:sp>
        <p:nvSpPr>
          <p:cNvPr id="22" name="Shape 19"/>
          <p:cNvSpPr/>
          <p:nvPr/>
        </p:nvSpPr>
        <p:spPr>
          <a:xfrm>
            <a:off x="9921240" y="6199632"/>
            <a:ext cx="274320" cy="128016"/>
          </a:xfrm>
          <a:prstGeom prst="rect">
            <a:avLst/>
          </a:prstGeom>
          <a:solidFill>
            <a:srgbClr val="D7301F"/>
          </a:solidFill>
          <a:ln w="12700">
            <a:solidFill>
              <a:srgbClr val="D7301F"/>
            </a:solidFill>
            <a:prstDash val="solid"/>
          </a:ln>
        </p:spPr>
      </p:sp>
      <p:sp>
        <p:nvSpPr>
          <p:cNvPr id="23" name="Shape 20"/>
          <p:cNvSpPr/>
          <p:nvPr/>
        </p:nvSpPr>
        <p:spPr>
          <a:xfrm>
            <a:off x="10195560" y="6199632"/>
            <a:ext cx="274320" cy="128016"/>
          </a:xfrm>
          <a:prstGeom prst="rect">
            <a:avLst/>
          </a:prstGeom>
          <a:solidFill>
            <a:srgbClr val="7F0000"/>
          </a:solidFill>
          <a:ln w="12700">
            <a:solidFill>
              <a:srgbClr val="7F000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1  ·  PROBLEM STATEMENT</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Problem statement</a:t>
            </a:r>
            <a:endParaRPr lang="en-US" sz="3400" dirty="0"/>
          </a:p>
        </p:txBody>
      </p:sp>
      <p:sp>
        <p:nvSpPr>
          <p:cNvPr id="4" name="Shape 2"/>
          <p:cNvSpPr/>
          <p:nvPr/>
        </p:nvSpPr>
        <p:spPr>
          <a:xfrm>
            <a:off x="548640" y="1600200"/>
            <a:ext cx="3566160" cy="3063240"/>
          </a:xfrm>
          <a:prstGeom prst="roundRect">
            <a:avLst>
              <a:gd name="adj" fmla="val 4179"/>
            </a:avLst>
          </a:prstGeom>
          <a:solidFill>
            <a:srgbClr val="F1F5F9"/>
          </a:solidFill>
          <a:ln w="12700">
            <a:solidFill>
              <a:srgbClr val="F1F5F9"/>
            </a:solidFill>
            <a:prstDash val="solid"/>
          </a:ln>
        </p:spPr>
      </p:sp>
      <p:sp>
        <p:nvSpPr>
          <p:cNvPr id="5" name="Shape 3"/>
          <p:cNvSpPr/>
          <p:nvPr/>
        </p:nvSpPr>
        <p:spPr>
          <a:xfrm>
            <a:off x="777240" y="1783080"/>
            <a:ext cx="640080" cy="640080"/>
          </a:xfrm>
          <a:prstGeom prst="ellipse">
            <a:avLst/>
          </a:prstGeom>
          <a:solidFill>
            <a:srgbClr val="EA580C"/>
          </a:solidFill>
          <a:ln w="12700">
            <a:solidFill>
              <a:srgbClr val="EA580C"/>
            </a:solidFill>
            <a:prstDash val="solid"/>
          </a:ln>
        </p:spPr>
      </p:sp>
      <p:pic>
        <p:nvPicPr>
          <p:cNvPr id="6" name="Image 0" descr="preencoded.png">    </p:cNvPr>
          <p:cNvPicPr>
            <a:picLocks noChangeAspect="1"/>
          </p:cNvPicPr>
          <p:nvPr/>
        </p:nvPicPr>
        <p:blipFill>
          <a:blip r:embed="rId1"/>
          <a:stretch>
            <a:fillRect/>
          </a:stretch>
        </p:blipFill>
        <p:spPr>
          <a:xfrm>
            <a:off x="937260" y="1943100"/>
            <a:ext cx="320040" cy="320040"/>
          </a:xfrm>
          <a:prstGeom prst="rect">
            <a:avLst/>
          </a:prstGeom>
        </p:spPr>
      </p:pic>
      <p:sp>
        <p:nvSpPr>
          <p:cNvPr id="7" name="Text 4"/>
          <p:cNvSpPr txBox="1"/>
          <p:nvPr/>
        </p:nvSpPr>
        <p:spPr>
          <a:xfrm>
            <a:off x="1600200" y="1874520"/>
            <a:ext cx="228600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Heat</a:t>
            </a:r>
            <a:endParaRPr lang="en-US" sz="2000" dirty="0"/>
          </a:p>
        </p:txBody>
      </p:sp>
      <p:sp>
        <p:nvSpPr>
          <p:cNvPr id="8" name="Text 5"/>
          <p:cNvSpPr txBox="1"/>
          <p:nvPr/>
        </p:nvSpPr>
        <p:spPr>
          <a:xfrm>
            <a:off x="822960" y="2606040"/>
            <a:ext cx="3108960" cy="731520"/>
          </a:xfrm>
          <a:prstGeom prst="rect">
            <a:avLst/>
          </a:prstGeom>
          <a:noFill/>
          <a:ln/>
        </p:spPr>
        <p:txBody>
          <a:bodyPr wrap="square" lIns="0" tIns="0" rIns="0" bIns="0" rtlCol="0" anchor="t"/>
          <a:lstStyle/>
          <a:p>
            <a:pPr indent="0" marL="0">
              <a:buNone/>
            </a:pPr>
            <a:r>
              <a:rPr lang="en-US" sz="3800" b="1" dirty="0">
                <a:solidFill>
                  <a:srgbClr val="EA580C"/>
                </a:solidFill>
                <a:latin typeface="Cambria" pitchFamily="34" charset="0"/>
                <a:ea typeface="Cambria" pitchFamily="34" charset="-122"/>
                <a:cs typeface="Cambria" pitchFamily="34" charset="-120"/>
              </a:rPr>
              <a:t>13.9 °C</a:t>
            </a:r>
            <a:endParaRPr lang="en-US" sz="3800" dirty="0"/>
          </a:p>
        </p:txBody>
      </p:sp>
      <p:sp>
        <p:nvSpPr>
          <p:cNvPr id="9" name="Text 6"/>
          <p:cNvSpPr txBox="1"/>
          <p:nvPr/>
        </p:nvSpPr>
        <p:spPr>
          <a:xfrm>
            <a:off x="822960" y="3383280"/>
            <a:ext cx="3063240" cy="11887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gap between the hottest and the coolest ward average (33.7 to 47.6 °C) in April 2026. Source: Landsat 8/9.</a:t>
            </a:r>
            <a:endParaRPr lang="en-US" sz="1300" dirty="0"/>
          </a:p>
        </p:txBody>
      </p:sp>
      <p:sp>
        <p:nvSpPr>
          <p:cNvPr id="10" name="Shape 7"/>
          <p:cNvSpPr/>
          <p:nvPr/>
        </p:nvSpPr>
        <p:spPr>
          <a:xfrm>
            <a:off x="4311396" y="1600200"/>
            <a:ext cx="3566160" cy="3063240"/>
          </a:xfrm>
          <a:prstGeom prst="roundRect">
            <a:avLst>
              <a:gd name="adj" fmla="val 4179"/>
            </a:avLst>
          </a:prstGeom>
          <a:solidFill>
            <a:srgbClr val="F1F5F9"/>
          </a:solidFill>
          <a:ln w="12700">
            <a:solidFill>
              <a:srgbClr val="F1F5F9"/>
            </a:solidFill>
            <a:prstDash val="solid"/>
          </a:ln>
        </p:spPr>
      </p:sp>
      <p:sp>
        <p:nvSpPr>
          <p:cNvPr id="11" name="Shape 8"/>
          <p:cNvSpPr/>
          <p:nvPr/>
        </p:nvSpPr>
        <p:spPr>
          <a:xfrm>
            <a:off x="4539996" y="1783080"/>
            <a:ext cx="640080" cy="640080"/>
          </a:xfrm>
          <a:prstGeom prst="ellipse">
            <a:avLst/>
          </a:prstGeom>
          <a:solidFill>
            <a:srgbClr val="16A34A"/>
          </a:solidFill>
          <a:ln w="12700">
            <a:solidFill>
              <a:srgbClr val="16A34A"/>
            </a:solidFill>
            <a:prstDash val="solid"/>
          </a:ln>
        </p:spPr>
      </p:sp>
      <p:pic>
        <p:nvPicPr>
          <p:cNvPr id="12" name="Image 1" descr="preencoded.png">    </p:cNvPr>
          <p:cNvPicPr>
            <a:picLocks noChangeAspect="1"/>
          </p:cNvPicPr>
          <p:nvPr/>
        </p:nvPicPr>
        <p:blipFill>
          <a:blip r:embed="rId2"/>
          <a:stretch>
            <a:fillRect/>
          </a:stretch>
        </p:blipFill>
        <p:spPr>
          <a:xfrm>
            <a:off x="4700016" y="1943100"/>
            <a:ext cx="320040" cy="320040"/>
          </a:xfrm>
          <a:prstGeom prst="rect">
            <a:avLst/>
          </a:prstGeom>
        </p:spPr>
      </p:pic>
      <p:sp>
        <p:nvSpPr>
          <p:cNvPr id="13" name="Text 9"/>
          <p:cNvSpPr txBox="1"/>
          <p:nvPr/>
        </p:nvSpPr>
        <p:spPr>
          <a:xfrm>
            <a:off x="5362956" y="1874520"/>
            <a:ext cx="228600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Green cover</a:t>
            </a:r>
            <a:endParaRPr lang="en-US" sz="2000" dirty="0"/>
          </a:p>
        </p:txBody>
      </p:sp>
      <p:sp>
        <p:nvSpPr>
          <p:cNvPr id="14" name="Text 10"/>
          <p:cNvSpPr txBox="1"/>
          <p:nvPr/>
        </p:nvSpPr>
        <p:spPr>
          <a:xfrm>
            <a:off x="4585716" y="2606040"/>
            <a:ext cx="3108960" cy="731520"/>
          </a:xfrm>
          <a:prstGeom prst="rect">
            <a:avLst/>
          </a:prstGeom>
          <a:noFill/>
          <a:ln/>
        </p:spPr>
        <p:txBody>
          <a:bodyPr wrap="square" lIns="0" tIns="0" rIns="0" bIns="0" rtlCol="0" anchor="t"/>
          <a:lstStyle/>
          <a:p>
            <a:pPr indent="0" marL="0">
              <a:buNone/>
            </a:pPr>
            <a:r>
              <a:rPr lang="en-US" sz="3800" b="1" dirty="0">
                <a:solidFill>
                  <a:srgbClr val="16A34A"/>
                </a:solidFill>
                <a:latin typeface="Cambria" pitchFamily="34" charset="0"/>
                <a:ea typeface="Cambria" pitchFamily="34" charset="-122"/>
                <a:cs typeface="Cambria" pitchFamily="34" charset="-120"/>
              </a:rPr>
              <a:t>26%</a:t>
            </a:r>
            <a:endParaRPr lang="en-US" sz="3800" dirty="0"/>
          </a:p>
        </p:txBody>
      </p:sp>
      <p:sp>
        <p:nvSpPr>
          <p:cNvPr id="15" name="Text 11"/>
          <p:cNvSpPr txBox="1"/>
          <p:nvPr/>
        </p:nvSpPr>
        <p:spPr>
          <a:xfrm>
            <a:off x="4585716" y="3383280"/>
            <a:ext cx="3063240" cy="11887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of the study area is tree cover, while 33% is built-up. Source: ESA WorldCover 2021.</a:t>
            </a:r>
            <a:endParaRPr lang="en-US" sz="1300" dirty="0"/>
          </a:p>
        </p:txBody>
      </p:sp>
      <p:sp>
        <p:nvSpPr>
          <p:cNvPr id="16" name="Shape 12"/>
          <p:cNvSpPr/>
          <p:nvPr/>
        </p:nvSpPr>
        <p:spPr>
          <a:xfrm>
            <a:off x="8074152" y="1600200"/>
            <a:ext cx="3566160" cy="3063240"/>
          </a:xfrm>
          <a:prstGeom prst="roundRect">
            <a:avLst>
              <a:gd name="adj" fmla="val 4179"/>
            </a:avLst>
          </a:prstGeom>
          <a:solidFill>
            <a:srgbClr val="F1F5F9"/>
          </a:solidFill>
          <a:ln w="12700">
            <a:solidFill>
              <a:srgbClr val="F1F5F9"/>
            </a:solidFill>
            <a:prstDash val="solid"/>
          </a:ln>
        </p:spPr>
      </p:sp>
      <p:sp>
        <p:nvSpPr>
          <p:cNvPr id="17" name="Shape 13"/>
          <p:cNvSpPr/>
          <p:nvPr/>
        </p:nvSpPr>
        <p:spPr>
          <a:xfrm>
            <a:off x="8302752" y="1783080"/>
            <a:ext cx="640080" cy="640080"/>
          </a:xfrm>
          <a:prstGeom prst="ellipse">
            <a:avLst/>
          </a:prstGeom>
          <a:solidFill>
            <a:srgbClr val="2563EB"/>
          </a:solidFill>
          <a:ln w="12700">
            <a:solidFill>
              <a:srgbClr val="2563EB"/>
            </a:solidFill>
            <a:prstDash val="solid"/>
          </a:ln>
        </p:spPr>
      </p:sp>
      <p:pic>
        <p:nvPicPr>
          <p:cNvPr id="18" name="Image 2" descr="preencoded.png">    </p:cNvPr>
          <p:cNvPicPr>
            <a:picLocks noChangeAspect="1"/>
          </p:cNvPicPr>
          <p:nvPr/>
        </p:nvPicPr>
        <p:blipFill>
          <a:blip r:embed="rId3"/>
          <a:stretch>
            <a:fillRect/>
          </a:stretch>
        </p:blipFill>
        <p:spPr>
          <a:xfrm>
            <a:off x="8462772" y="1943100"/>
            <a:ext cx="320040" cy="320040"/>
          </a:xfrm>
          <a:prstGeom prst="rect">
            <a:avLst/>
          </a:prstGeom>
        </p:spPr>
      </p:pic>
      <p:sp>
        <p:nvSpPr>
          <p:cNvPr id="19" name="Text 14"/>
          <p:cNvSpPr txBox="1"/>
          <p:nvPr/>
        </p:nvSpPr>
        <p:spPr>
          <a:xfrm>
            <a:off x="9125712" y="1874520"/>
            <a:ext cx="228600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Flood</a:t>
            </a:r>
            <a:endParaRPr lang="en-US" sz="2000" dirty="0"/>
          </a:p>
        </p:txBody>
      </p:sp>
      <p:sp>
        <p:nvSpPr>
          <p:cNvPr id="20" name="Text 15"/>
          <p:cNvSpPr txBox="1"/>
          <p:nvPr/>
        </p:nvSpPr>
        <p:spPr>
          <a:xfrm>
            <a:off x="8348472" y="2606040"/>
            <a:ext cx="3108960" cy="731520"/>
          </a:xfrm>
          <a:prstGeom prst="rect">
            <a:avLst/>
          </a:prstGeom>
          <a:noFill/>
          <a:ln/>
        </p:spPr>
        <p:txBody>
          <a:bodyPr wrap="square" lIns="0" tIns="0" rIns="0" bIns="0" rtlCol="0" anchor="t"/>
          <a:lstStyle/>
          <a:p>
            <a:pPr indent="0" marL="0">
              <a:buNone/>
            </a:pPr>
            <a:r>
              <a:rPr lang="en-US" sz="3800" b="1" dirty="0">
                <a:solidFill>
                  <a:srgbClr val="2563EB"/>
                </a:solidFill>
                <a:latin typeface="Cambria" pitchFamily="34" charset="0"/>
                <a:ea typeface="Cambria" pitchFamily="34" charset="-122"/>
                <a:cs typeface="Cambria" pitchFamily="34" charset="-120"/>
              </a:rPr>
              <a:t>155.7 mm</a:t>
            </a:r>
            <a:endParaRPr lang="en-US" sz="3800" dirty="0"/>
          </a:p>
        </p:txBody>
      </p:sp>
      <p:sp>
        <p:nvSpPr>
          <p:cNvPr id="21" name="Text 16"/>
          <p:cNvSpPr txBox="1"/>
          <p:nvPr/>
        </p:nvSpPr>
        <p:spPr>
          <a:xfrm>
            <a:off x="8348472" y="3383280"/>
            <a:ext cx="3063240" cy="11887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of rain fell in Nerul on 26 May 2025 (Belapur: 133.9 mm). Roads and the APMC market flooded. Source: Free Press Journal.</a:t>
            </a:r>
            <a:endParaRPr lang="en-US" sz="1300" dirty="0"/>
          </a:p>
        </p:txBody>
      </p:sp>
      <p:sp>
        <p:nvSpPr>
          <p:cNvPr id="22" name="Shape 17"/>
          <p:cNvSpPr/>
          <p:nvPr/>
        </p:nvSpPr>
        <p:spPr>
          <a:xfrm>
            <a:off x="548640" y="4846320"/>
            <a:ext cx="11091672" cy="1188720"/>
          </a:xfrm>
          <a:prstGeom prst="roundRect">
            <a:avLst>
              <a:gd name="adj" fmla="val 10769"/>
            </a:avLst>
          </a:prstGeom>
          <a:solidFill>
            <a:srgbClr val="0F172A"/>
          </a:solidFill>
          <a:ln w="12700">
            <a:solidFill>
              <a:srgbClr val="0F172A"/>
            </a:solidFill>
            <a:prstDash val="solid"/>
          </a:ln>
        </p:spPr>
      </p:sp>
      <p:sp>
        <p:nvSpPr>
          <p:cNvPr id="23" name="Text 18"/>
          <p:cNvSpPr txBox="1"/>
          <p:nvPr/>
        </p:nvSpPr>
        <p:spPr>
          <a:xfrm>
            <a:off x="822960" y="4892040"/>
            <a:ext cx="10543032" cy="1097280"/>
          </a:xfrm>
          <a:prstGeom prst="rect">
            <a:avLst/>
          </a:prstGeom>
          <a:noFill/>
          <a:ln/>
        </p:spPr>
        <p:txBody>
          <a:bodyPr wrap="square" lIns="0" tIns="0" rIns="0" bIns="0" rtlCol="0" anchor="ctr"/>
          <a:lstStyle/>
          <a:p>
            <a:pPr indent="0" marL="0">
              <a:buNone/>
            </a:pPr>
            <a:r>
              <a:rPr lang="en-US" sz="1650" b="1" dirty="0">
                <a:solidFill>
                  <a:srgbClr val="F59E0B"/>
                </a:solidFill>
                <a:latin typeface="Calibri" pitchFamily="34" charset="0"/>
                <a:ea typeface="Calibri" pitchFamily="34" charset="-122"/>
                <a:cs typeface="Calibri" pitchFamily="34" charset="-120"/>
              </a:rPr>
              <a:t>Problem: </a:t>
            </a:r>
            <a:pPr indent="0" marL="0">
              <a:buNone/>
            </a:pPr>
            <a:r>
              <a:rPr lang="en-US" sz="1650" dirty="0">
                <a:solidFill>
                  <a:srgbClr val="FFFFFF"/>
                </a:solidFill>
                <a:latin typeface="Calibri" pitchFamily="34" charset="0"/>
                <a:ea typeface="Calibri" pitchFamily="34" charset="-122"/>
                <a:cs typeface="Calibri" pitchFamily="34" charset="-120"/>
              </a:rPr>
              <a:t>heat, low green cover and flooding do not affect every ward equally. This project combines them into one score for each of the 111 wards, so we can see where the stresses overlap.</a:t>
            </a:r>
            <a:endParaRPr lang="en-US" sz="1650" dirty="0"/>
          </a:p>
        </p:txBody>
      </p:sp>
      <p:sp>
        <p:nvSpPr>
          <p:cNvPr id="24" name="Text 19"/>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25" name="Text 20"/>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2 / 7</a:t>
            </a:r>
            <a:endParaRPr lang="en-US" sz="900" dirty="0"/>
          </a:p>
        </p:txBody>
      </p:sp>
      <p:sp>
        <p:nvSpPr>
          <p:cNvPr id="26" name="Text 21"/>
          <p:cNvSpPr txBox="1"/>
          <p:nvPr/>
        </p:nvSpPr>
        <p:spPr>
          <a:xfrm>
            <a:off x="548640" y="6144768"/>
            <a:ext cx="11091672" cy="274320"/>
          </a:xfrm>
          <a:prstGeom prst="rect">
            <a:avLst/>
          </a:prstGeom>
          <a:noFill/>
          <a:ln/>
        </p:spPr>
        <p:txBody>
          <a:bodyPr wrap="square" lIns="0" tIns="0" rIns="0" bIns="0" rtlCol="0" anchor="t"/>
          <a:lstStyle/>
          <a:p>
            <a:pPr indent="0" marL="0">
              <a:buNone/>
            </a:pPr>
            <a:r>
              <a:rPr lang="en-US" sz="950" i="1" dirty="0">
                <a:solidFill>
                  <a:srgbClr val="64748B"/>
                </a:solidFill>
                <a:latin typeface="Calibri" pitchFamily="34" charset="0"/>
                <a:ea typeface="Calibri" pitchFamily="34" charset="-122"/>
                <a:cs typeface="Calibri" pitchFamily="34" charset="-120"/>
              </a:rPr>
              <a:t>Sources: Landsat 8/9 (our processing), ESA WorldCover 2021, Free Press Journal (26 May 2025, rainfall 8:30 am to 4:30 pm).</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2  ·  AIM AND OBJECTIVES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Aim, objectives and study area</a:t>
            </a:r>
            <a:endParaRPr lang="en-US" sz="3400" dirty="0"/>
          </a:p>
        </p:txBody>
      </p:sp>
      <p:sp>
        <p:nvSpPr>
          <p:cNvPr id="4" name="Shape 2"/>
          <p:cNvSpPr/>
          <p:nvPr/>
        </p:nvSpPr>
        <p:spPr>
          <a:xfrm>
            <a:off x="548640" y="1600200"/>
            <a:ext cx="6492240" cy="1280160"/>
          </a:xfrm>
          <a:prstGeom prst="roundRect">
            <a:avLst>
              <a:gd name="adj" fmla="val 10000"/>
            </a:avLst>
          </a:prstGeom>
          <a:solidFill>
            <a:srgbClr val="0F172A"/>
          </a:solidFill>
          <a:ln w="12700">
            <a:solidFill>
              <a:srgbClr val="0F172A"/>
            </a:solidFill>
            <a:prstDash val="solid"/>
          </a:ln>
        </p:spPr>
      </p:sp>
      <p:sp>
        <p:nvSpPr>
          <p:cNvPr id="5" name="Text 3"/>
          <p:cNvSpPr txBox="1"/>
          <p:nvPr/>
        </p:nvSpPr>
        <p:spPr>
          <a:xfrm>
            <a:off x="822960" y="1673352"/>
            <a:ext cx="5943600" cy="1143000"/>
          </a:xfrm>
          <a:prstGeom prst="rect">
            <a:avLst/>
          </a:prstGeom>
          <a:noFill/>
          <a:ln/>
        </p:spPr>
        <p:txBody>
          <a:bodyPr wrap="square" lIns="0" tIns="0" rIns="0" bIns="0" rtlCol="0" anchor="t"/>
          <a:lstStyle/>
          <a:p>
            <a:pPr indent="0" marL="0">
              <a:buNone/>
            </a:pPr>
            <a:r>
              <a:rPr lang="en-US" sz="1100" b="1" spc="300" kern="0" dirty="0">
                <a:solidFill>
                  <a:srgbClr val="F59E0B"/>
                </a:solidFill>
                <a:latin typeface="Cambria" pitchFamily="34" charset="0"/>
                <a:ea typeface="Cambria" pitchFamily="34" charset="-122"/>
                <a:cs typeface="Cambria" pitchFamily="34" charset="-120"/>
              </a:rPr>
              <a:t>AIM  </a:t>
            </a:r>
            <a:endParaRPr lang="en-US" sz="1650" dirty="0"/>
          </a:p>
          <a:p>
            <a:pPr indent="0" marL="0">
              <a:buNone/>
            </a:pPr>
            <a:r>
              <a:rPr lang="en-US" sz="1650" dirty="0">
                <a:solidFill>
                  <a:srgbClr val="FFFFFF"/>
                </a:solidFill>
                <a:latin typeface="Cambria" pitchFamily="34" charset="0"/>
                <a:ea typeface="Cambria" pitchFamily="34" charset="-122"/>
                <a:cs typeface="Cambria" pitchFamily="34" charset="-120"/>
              </a:rPr>
              <a:t>To measure heat, green cover and flood susceptibility for the 111 wards of Navi Mumbai and combine them into one Urban Climate Stress Index (UCSI).</a:t>
            </a:r>
            <a:endParaRPr lang="en-US" sz="1650" dirty="0"/>
          </a:p>
        </p:txBody>
      </p:sp>
      <p:sp>
        <p:nvSpPr>
          <p:cNvPr id="6" name="Shape 4"/>
          <p:cNvSpPr/>
          <p:nvPr/>
        </p:nvSpPr>
        <p:spPr>
          <a:xfrm>
            <a:off x="548640" y="3108960"/>
            <a:ext cx="6492240" cy="603504"/>
          </a:xfrm>
          <a:prstGeom prst="roundRect">
            <a:avLst>
              <a:gd name="adj" fmla="val 21212"/>
            </a:avLst>
          </a:prstGeom>
          <a:solidFill>
            <a:srgbClr val="F1F5F9"/>
          </a:solidFill>
          <a:ln w="12700">
            <a:solidFill>
              <a:srgbClr val="F1F5F9"/>
            </a:solidFill>
            <a:prstDash val="solid"/>
          </a:ln>
        </p:spPr>
      </p:sp>
      <p:sp>
        <p:nvSpPr>
          <p:cNvPr id="7" name="Shape 5"/>
          <p:cNvSpPr/>
          <p:nvPr/>
        </p:nvSpPr>
        <p:spPr>
          <a:xfrm>
            <a:off x="713232" y="3200400"/>
            <a:ext cx="420624" cy="420624"/>
          </a:xfrm>
          <a:prstGeom prst="ellipse">
            <a:avLst/>
          </a:prstGeom>
          <a:solidFill>
            <a:srgbClr val="EA580C"/>
          </a:solidFill>
          <a:ln w="12700">
            <a:solidFill>
              <a:srgbClr val="EA580C"/>
            </a:solidFill>
            <a:prstDash val="solid"/>
          </a:ln>
        </p:spPr>
      </p:sp>
      <p:sp>
        <p:nvSpPr>
          <p:cNvPr id="8" name="Text 6"/>
          <p:cNvSpPr txBox="1"/>
          <p:nvPr/>
        </p:nvSpPr>
        <p:spPr>
          <a:xfrm>
            <a:off x="713232" y="32004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25880" y="3108960"/>
            <a:ext cx="5577840" cy="603504"/>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Prepare the ward boundaries and a GeoPackage database</a:t>
            </a:r>
            <a:endParaRPr lang="en-US" sz="1500" dirty="0"/>
          </a:p>
        </p:txBody>
      </p:sp>
      <p:sp>
        <p:nvSpPr>
          <p:cNvPr id="10" name="Shape 8"/>
          <p:cNvSpPr/>
          <p:nvPr/>
        </p:nvSpPr>
        <p:spPr>
          <a:xfrm>
            <a:off x="548640" y="3822192"/>
            <a:ext cx="6492240" cy="603504"/>
          </a:xfrm>
          <a:prstGeom prst="roundRect">
            <a:avLst>
              <a:gd name="adj" fmla="val 21212"/>
            </a:avLst>
          </a:prstGeom>
          <a:solidFill>
            <a:srgbClr val="F1F5F9"/>
          </a:solidFill>
          <a:ln w="12700">
            <a:solidFill>
              <a:srgbClr val="F1F5F9"/>
            </a:solidFill>
            <a:prstDash val="solid"/>
          </a:ln>
        </p:spPr>
      </p:sp>
      <p:sp>
        <p:nvSpPr>
          <p:cNvPr id="11" name="Shape 9"/>
          <p:cNvSpPr/>
          <p:nvPr/>
        </p:nvSpPr>
        <p:spPr>
          <a:xfrm>
            <a:off x="713232" y="3913632"/>
            <a:ext cx="420624" cy="420624"/>
          </a:xfrm>
          <a:prstGeom prst="ellipse">
            <a:avLst/>
          </a:prstGeom>
          <a:solidFill>
            <a:srgbClr val="EA580C"/>
          </a:solidFill>
          <a:ln w="12700">
            <a:solidFill>
              <a:srgbClr val="EA580C"/>
            </a:solidFill>
            <a:prstDash val="solid"/>
          </a:ln>
        </p:spPr>
      </p:sp>
      <p:sp>
        <p:nvSpPr>
          <p:cNvPr id="12" name="Text 10"/>
          <p:cNvSpPr txBox="1"/>
          <p:nvPr/>
        </p:nvSpPr>
        <p:spPr>
          <a:xfrm>
            <a:off x="713232" y="3913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325880" y="3822192"/>
            <a:ext cx="5577840" cy="603504"/>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Get heat, green cover and built-up data from satellites</a:t>
            </a:r>
            <a:endParaRPr lang="en-US" sz="1500" dirty="0"/>
          </a:p>
        </p:txBody>
      </p:sp>
      <p:sp>
        <p:nvSpPr>
          <p:cNvPr id="14" name="Shape 12"/>
          <p:cNvSpPr/>
          <p:nvPr/>
        </p:nvSpPr>
        <p:spPr>
          <a:xfrm>
            <a:off x="548640" y="4535424"/>
            <a:ext cx="6492240" cy="603504"/>
          </a:xfrm>
          <a:prstGeom prst="roundRect">
            <a:avLst>
              <a:gd name="adj" fmla="val 21212"/>
            </a:avLst>
          </a:prstGeom>
          <a:solidFill>
            <a:srgbClr val="F1F5F9"/>
          </a:solidFill>
          <a:ln w="12700">
            <a:solidFill>
              <a:srgbClr val="F1F5F9"/>
            </a:solidFill>
            <a:prstDash val="solid"/>
          </a:ln>
        </p:spPr>
      </p:sp>
      <p:sp>
        <p:nvSpPr>
          <p:cNvPr id="15" name="Shape 13"/>
          <p:cNvSpPr/>
          <p:nvPr/>
        </p:nvSpPr>
        <p:spPr>
          <a:xfrm>
            <a:off x="713232" y="4626864"/>
            <a:ext cx="420624" cy="420624"/>
          </a:xfrm>
          <a:prstGeom prst="ellipse">
            <a:avLst/>
          </a:prstGeom>
          <a:solidFill>
            <a:srgbClr val="EA580C"/>
          </a:solidFill>
          <a:ln w="12700">
            <a:solidFill>
              <a:srgbClr val="EA580C"/>
            </a:solidFill>
            <a:prstDash val="solid"/>
          </a:ln>
        </p:spPr>
      </p:sp>
      <p:sp>
        <p:nvSpPr>
          <p:cNvPr id="16" name="Text 14"/>
          <p:cNvSpPr txBox="1"/>
          <p:nvPr/>
        </p:nvSpPr>
        <p:spPr>
          <a:xfrm>
            <a:off x="713232" y="4626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25880" y="4535424"/>
            <a:ext cx="5577840" cy="603504"/>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Score flood susceptibility and combine all three (UCSI)</a:t>
            </a:r>
            <a:endParaRPr lang="en-US" sz="1500" dirty="0"/>
          </a:p>
        </p:txBody>
      </p:sp>
      <p:sp>
        <p:nvSpPr>
          <p:cNvPr id="18" name="Shape 16"/>
          <p:cNvSpPr/>
          <p:nvPr/>
        </p:nvSpPr>
        <p:spPr>
          <a:xfrm>
            <a:off x="548640" y="5248656"/>
            <a:ext cx="6492240" cy="603504"/>
          </a:xfrm>
          <a:prstGeom prst="roundRect">
            <a:avLst>
              <a:gd name="adj" fmla="val 21212"/>
            </a:avLst>
          </a:prstGeom>
          <a:solidFill>
            <a:srgbClr val="F1F5F9"/>
          </a:solidFill>
          <a:ln w="12700">
            <a:solidFill>
              <a:srgbClr val="F1F5F9"/>
            </a:solidFill>
            <a:prstDash val="solid"/>
          </a:ln>
        </p:spPr>
      </p:sp>
      <p:sp>
        <p:nvSpPr>
          <p:cNvPr id="19" name="Shape 17"/>
          <p:cNvSpPr/>
          <p:nvPr/>
        </p:nvSpPr>
        <p:spPr>
          <a:xfrm>
            <a:off x="713232" y="5340096"/>
            <a:ext cx="420624" cy="420624"/>
          </a:xfrm>
          <a:prstGeom prst="ellipse">
            <a:avLst/>
          </a:prstGeom>
          <a:solidFill>
            <a:srgbClr val="EA580C"/>
          </a:solidFill>
          <a:ln w="12700">
            <a:solidFill>
              <a:srgbClr val="EA580C"/>
            </a:solidFill>
            <a:prstDash val="solid"/>
          </a:ln>
        </p:spPr>
      </p:sp>
      <p:sp>
        <p:nvSpPr>
          <p:cNvPr id="20" name="Text 18"/>
          <p:cNvSpPr txBox="1"/>
          <p:nvPr/>
        </p:nvSpPr>
        <p:spPr>
          <a:xfrm>
            <a:off x="713232" y="53400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325880" y="5248656"/>
            <a:ext cx="5577840" cy="603504"/>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Run 10 queries and make the final maps</a:t>
            </a:r>
            <a:endParaRPr lang="en-US" sz="1500" dirty="0"/>
          </a:p>
        </p:txBody>
      </p:sp>
      <p:sp>
        <p:nvSpPr>
          <p:cNvPr id="22" name="Shape 20"/>
          <p:cNvSpPr/>
          <p:nvPr/>
        </p:nvSpPr>
        <p:spPr>
          <a:xfrm>
            <a:off x="7406640" y="1600200"/>
            <a:ext cx="4233672" cy="4434840"/>
          </a:xfrm>
          <a:prstGeom prst="roundRect">
            <a:avLst>
              <a:gd name="adj" fmla="val 3024"/>
            </a:avLst>
          </a:prstGeom>
          <a:solidFill>
            <a:srgbClr val="F1F5F9"/>
          </a:solidFill>
          <a:ln w="12700">
            <a:solidFill>
              <a:srgbClr val="F1F5F9"/>
            </a:solidFill>
            <a:prstDash val="solid"/>
          </a:ln>
        </p:spPr>
      </p:sp>
      <p:pic>
        <p:nvPicPr>
          <p:cNvPr id="23" name="Image 0" descr="C:/Users/farha/AppData/Local/Temp/claude/G--5-Claude-Chats-college/081d4375-70ed-43ee-a64d-1d2d6cb50bb2/scratchpad/hasnat/out/wards_qgis.png">    </p:cNvPr>
          <p:cNvPicPr>
            <a:picLocks noChangeAspect="1"/>
          </p:cNvPicPr>
          <p:nvPr/>
        </p:nvPicPr>
        <p:blipFill>
          <a:blip r:embed="rId1"/>
          <a:stretch>
            <a:fillRect/>
          </a:stretch>
        </p:blipFill>
        <p:spPr>
          <a:xfrm>
            <a:off x="7589520" y="1783080"/>
            <a:ext cx="1554601" cy="4023360"/>
          </a:xfrm>
          <a:prstGeom prst="rect">
            <a:avLst/>
          </a:prstGeom>
        </p:spPr>
      </p:pic>
      <p:sp>
        <p:nvSpPr>
          <p:cNvPr id="24" name="Text 21"/>
          <p:cNvSpPr txBox="1"/>
          <p:nvPr/>
        </p:nvSpPr>
        <p:spPr>
          <a:xfrm>
            <a:off x="9418320" y="2377440"/>
            <a:ext cx="2148840" cy="2743200"/>
          </a:xfrm>
          <a:prstGeom prst="rect">
            <a:avLst/>
          </a:prstGeom>
          <a:noFill/>
          <a:ln/>
        </p:spPr>
        <p:txBody>
          <a:bodyPr wrap="square" lIns="0" tIns="0" rIns="0" bIns="0" rtlCol="0" anchor="t"/>
          <a:lstStyle/>
          <a:p>
            <a:pPr indent="0" marL="0">
              <a:spcAft>
                <a:spcPts val="500"/>
              </a:spcAft>
              <a:buNone/>
            </a:pPr>
            <a:r>
              <a:rPr lang="en-US" sz="1250" b="1" dirty="0">
                <a:solidFill>
                  <a:srgbClr val="0F172A"/>
                </a:solidFill>
                <a:latin typeface="Calibri" pitchFamily="34" charset="0"/>
                <a:ea typeface="Calibri" pitchFamily="34" charset="-122"/>
                <a:cs typeface="Calibri" pitchFamily="34" charset="-120"/>
              </a:rPr>
              <a:t>Study area</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Navi Mumbai, Maharashtra</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111 wards (8 ward offices)</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122.9 km² (sum of ward polygons)</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Boundaries: OpenCity / BharatLAS</a:t>
            </a:r>
            <a:endParaRPr lang="en-US" sz="1250" dirty="0"/>
          </a:p>
        </p:txBody>
      </p:sp>
      <p:sp>
        <p:nvSpPr>
          <p:cNvPr id="25" name="Text 22"/>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26" name="Text 23"/>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3 / 7</a:t>
            </a:r>
            <a:endParaRPr lang="en-US" sz="900" dirty="0"/>
          </a:p>
        </p:txBody>
      </p:sp>
      <p:sp>
        <p:nvSpPr>
          <p:cNvPr id="27" name="Text 24"/>
          <p:cNvSpPr txBox="1"/>
          <p:nvPr/>
        </p:nvSpPr>
        <p:spPr>
          <a:xfrm>
            <a:off x="548640" y="6144768"/>
            <a:ext cx="11091672" cy="274320"/>
          </a:xfrm>
          <a:prstGeom prst="rect">
            <a:avLst/>
          </a:prstGeom>
          <a:noFill/>
          <a:ln/>
        </p:spPr>
        <p:txBody>
          <a:bodyPr wrap="square" lIns="0" tIns="0" rIns="0" bIns="0" rtlCol="0" anchor="t"/>
          <a:lstStyle/>
          <a:p>
            <a:pPr indent="0" marL="0">
              <a:buNone/>
            </a:pPr>
            <a:r>
              <a:rPr lang="en-US" sz="950" i="1" dirty="0">
                <a:solidFill>
                  <a:srgbClr val="64748B"/>
                </a:solidFill>
                <a:latin typeface="Calibri" pitchFamily="34" charset="0"/>
                <a:ea typeface="Calibri" pitchFamily="34" charset="-122"/>
                <a:cs typeface="Calibri" pitchFamily="34" charset="-120"/>
              </a:rPr>
              <a:t>Ward count: 111 electoral wards (Wikipedia, NMMC). Area: sum of the ward polygons in our GeoPackage; other sources give different areas.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3  ·  DATA AND METHOD</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Data and methodology</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400800" cy="914400"/>
        </p:xfrm>
        <a:graphic>
          <a:graphicData uri="http://schemas.openxmlformats.org/drawingml/2006/table">
            <a:tbl>
              <a:tblPr/>
              <a:tblGrid>
                <a:gridCol w="1920240"/>
                <a:gridCol w="3566160"/>
                <a:gridCol w="91440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Indicator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Data (all free)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Detail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r>
              <a:tr h="45720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Heat (LST)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Landsat 8/9 thermal band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30 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Green cover (NDVI)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Sentinel-2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10 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Built-up land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ESA WorldCover 2021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10 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Flood factors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SRTM elevation, water (WorldCover)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30 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Ward boundaries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OpenCity / BharatLAS (111 wards)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vector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5" name="Shape 2"/>
          <p:cNvSpPr/>
          <p:nvPr/>
        </p:nvSpPr>
        <p:spPr>
          <a:xfrm>
            <a:off x="548640" y="4526280"/>
            <a:ext cx="6400800" cy="1508760"/>
          </a:xfrm>
          <a:prstGeom prst="roundRect">
            <a:avLst>
              <a:gd name="adj" fmla="val 8485"/>
            </a:avLst>
          </a:prstGeom>
          <a:solidFill>
            <a:srgbClr val="0F172A"/>
          </a:solidFill>
          <a:ln w="12700">
            <a:solidFill>
              <a:srgbClr val="0F172A"/>
            </a:solidFill>
            <a:prstDash val="solid"/>
          </a:ln>
        </p:spPr>
      </p:sp>
      <p:sp>
        <p:nvSpPr>
          <p:cNvPr id="6" name="Text 3"/>
          <p:cNvSpPr txBox="1"/>
          <p:nvPr/>
        </p:nvSpPr>
        <p:spPr>
          <a:xfrm>
            <a:off x="822960" y="4617720"/>
            <a:ext cx="5943600"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UCSI = (Heat + Green-cover deficit + Flood) ÷ 3</a:t>
            </a:r>
            <a:endParaRPr lang="en-US" sz="1900" dirty="0"/>
          </a:p>
        </p:txBody>
      </p:sp>
      <p:sp>
        <p:nvSpPr>
          <p:cNvPr id="7" name="Text 4"/>
          <p:cNvSpPr txBox="1"/>
          <p:nvPr/>
        </p:nvSpPr>
        <p:spPr>
          <a:xfrm>
            <a:off x="822960" y="5120640"/>
            <a:ext cx="5943600" cy="868680"/>
          </a:xfrm>
          <a:prstGeom prst="rect">
            <a:avLst/>
          </a:prstGeom>
          <a:noFill/>
          <a:ln/>
        </p:spPr>
        <p:txBody>
          <a:bodyPr wrap="square" lIns="0" tIns="0" rIns="0" bIns="0" rtlCol="0" anchor="t"/>
          <a:lstStyle/>
          <a:p>
            <a:pPr indent="0" marL="0">
              <a:spcAft>
                <a:spcPts val="300"/>
              </a:spcAft>
              <a:buNone/>
            </a:pPr>
            <a:r>
              <a:rPr lang="en-US" sz="1250" dirty="0">
                <a:solidFill>
                  <a:srgbClr val="E2E8F0"/>
                </a:solidFill>
                <a:latin typeface="Calibri" pitchFamily="34" charset="0"/>
                <a:ea typeface="Calibri" pitchFamily="34" charset="-122"/>
                <a:cs typeface="Calibri" pitchFamily="34" charset="-120"/>
              </a:rPr>
              <a:t>Each part is scored from 1 (low stress) to 5 (high stress).</a:t>
            </a:r>
            <a:endParaRPr lang="en-US" sz="1250" dirty="0"/>
          </a:p>
          <a:p>
            <a:pPr indent="0" marL="0">
              <a:spcAft>
                <a:spcPts val="300"/>
              </a:spcAft>
              <a:buNone/>
            </a:pPr>
            <a:r>
              <a:rPr lang="en-US" sz="1250" dirty="0">
                <a:solidFill>
                  <a:srgbClr val="E2E8F0"/>
                </a:solidFill>
                <a:latin typeface="Calibri" pitchFamily="34" charset="0"/>
                <a:ea typeface="Calibri" pitchFamily="34" charset="-122"/>
                <a:cs typeface="Calibri" pitchFamily="34" charset="-120"/>
              </a:rPr>
              <a:t>Flood score = elevation 43% + distance to water 27% + slope 16% + built-up 14% (AHP, consistency ratio 0.017).</a:t>
            </a:r>
            <a:endParaRPr lang="en-US" sz="1250" dirty="0"/>
          </a:p>
        </p:txBody>
      </p:sp>
      <p:sp>
        <p:nvSpPr>
          <p:cNvPr id="8" name="Text 5"/>
          <p:cNvSpPr txBox="1"/>
          <p:nvPr/>
        </p:nvSpPr>
        <p:spPr>
          <a:xfrm>
            <a:off x="7269480" y="1554480"/>
            <a:ext cx="3657600" cy="320040"/>
          </a:xfrm>
          <a:prstGeom prst="rect">
            <a:avLst/>
          </a:prstGeom>
          <a:noFill/>
          <a:ln/>
        </p:spPr>
        <p:txBody>
          <a:bodyPr wrap="square" lIns="0" tIns="0" rIns="0" bIns="0" rtlCol="0" anchor="t"/>
          <a:lstStyle/>
          <a:p>
            <a:pPr indent="0" marL="0">
              <a:buNone/>
            </a:pPr>
            <a:r>
              <a:rPr lang="en-US" sz="1700" b="1" dirty="0">
                <a:solidFill>
                  <a:srgbClr val="EA580C"/>
                </a:solidFill>
                <a:latin typeface="Cambria" pitchFamily="34" charset="0"/>
                <a:ea typeface="Cambria" pitchFamily="34" charset="-122"/>
                <a:cs typeface="Cambria" pitchFamily="34" charset="-120"/>
              </a:rPr>
              <a:t>Method</a:t>
            </a:r>
            <a:endParaRPr lang="en-US" sz="1700" dirty="0"/>
          </a:p>
        </p:txBody>
      </p:sp>
      <p:sp>
        <p:nvSpPr>
          <p:cNvPr id="9" name="Shape 6"/>
          <p:cNvSpPr/>
          <p:nvPr/>
        </p:nvSpPr>
        <p:spPr>
          <a:xfrm>
            <a:off x="7269480" y="1965960"/>
            <a:ext cx="4370832" cy="658368"/>
          </a:xfrm>
          <a:prstGeom prst="roundRect">
            <a:avLst>
              <a:gd name="adj" fmla="val 19444"/>
            </a:avLst>
          </a:prstGeom>
          <a:solidFill>
            <a:srgbClr val="F1F5F9"/>
          </a:solidFill>
          <a:ln w="12700">
            <a:solidFill>
              <a:srgbClr val="F1F5F9"/>
            </a:solidFill>
            <a:prstDash val="solid"/>
          </a:ln>
        </p:spPr>
      </p:sp>
      <p:sp>
        <p:nvSpPr>
          <p:cNvPr id="10" name="Shape 7"/>
          <p:cNvSpPr/>
          <p:nvPr/>
        </p:nvSpPr>
        <p:spPr>
          <a:xfrm>
            <a:off x="7379208" y="2084832"/>
            <a:ext cx="420624" cy="420624"/>
          </a:xfrm>
          <a:prstGeom prst="ellipse">
            <a:avLst/>
          </a:prstGeom>
          <a:solidFill>
            <a:srgbClr val="1E293B"/>
          </a:solidFill>
          <a:ln w="12700">
            <a:solidFill>
              <a:srgbClr val="1E293B"/>
            </a:solidFill>
            <a:prstDash val="solid"/>
          </a:ln>
        </p:spPr>
      </p:sp>
      <p:sp>
        <p:nvSpPr>
          <p:cNvPr id="11" name="Text 8"/>
          <p:cNvSpPr txBox="1"/>
          <p:nvPr/>
        </p:nvSpPr>
        <p:spPr>
          <a:xfrm>
            <a:off x="7379208" y="20848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9"/>
          <p:cNvSpPr txBox="1"/>
          <p:nvPr/>
        </p:nvSpPr>
        <p:spPr>
          <a:xfrm>
            <a:off x="7955280" y="1965960"/>
            <a:ext cx="3611880" cy="65836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Collect free satellite data for April 2026</a:t>
            </a:r>
            <a:endParaRPr lang="en-US" sz="1350" dirty="0"/>
          </a:p>
        </p:txBody>
      </p:sp>
      <p:sp>
        <p:nvSpPr>
          <p:cNvPr id="13" name="Shape 10"/>
          <p:cNvSpPr/>
          <p:nvPr/>
        </p:nvSpPr>
        <p:spPr>
          <a:xfrm>
            <a:off x="7269480" y="2752344"/>
            <a:ext cx="4370832" cy="658368"/>
          </a:xfrm>
          <a:prstGeom prst="roundRect">
            <a:avLst>
              <a:gd name="adj" fmla="val 19444"/>
            </a:avLst>
          </a:prstGeom>
          <a:solidFill>
            <a:srgbClr val="F1F5F9"/>
          </a:solidFill>
          <a:ln w="12700">
            <a:solidFill>
              <a:srgbClr val="F1F5F9"/>
            </a:solidFill>
            <a:prstDash val="solid"/>
          </a:ln>
        </p:spPr>
      </p:sp>
      <p:sp>
        <p:nvSpPr>
          <p:cNvPr id="14" name="Shape 11"/>
          <p:cNvSpPr/>
          <p:nvPr/>
        </p:nvSpPr>
        <p:spPr>
          <a:xfrm>
            <a:off x="7379208" y="2871216"/>
            <a:ext cx="420624" cy="420624"/>
          </a:xfrm>
          <a:prstGeom prst="ellipse">
            <a:avLst/>
          </a:prstGeom>
          <a:solidFill>
            <a:srgbClr val="1E293B"/>
          </a:solidFill>
          <a:ln w="12700">
            <a:solidFill>
              <a:srgbClr val="1E293B"/>
            </a:solidFill>
            <a:prstDash val="solid"/>
          </a:ln>
        </p:spPr>
      </p:sp>
      <p:sp>
        <p:nvSpPr>
          <p:cNvPr id="15" name="Text 12"/>
          <p:cNvSpPr txBox="1"/>
          <p:nvPr/>
        </p:nvSpPr>
        <p:spPr>
          <a:xfrm>
            <a:off x="7379208" y="28712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7955280" y="2752344"/>
            <a:ext cx="3611880" cy="65836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Calculate the mean of each indicator per ward</a:t>
            </a:r>
            <a:endParaRPr lang="en-US" sz="1350" dirty="0"/>
          </a:p>
        </p:txBody>
      </p:sp>
      <p:sp>
        <p:nvSpPr>
          <p:cNvPr id="17" name="Shape 14"/>
          <p:cNvSpPr/>
          <p:nvPr/>
        </p:nvSpPr>
        <p:spPr>
          <a:xfrm>
            <a:off x="7269480" y="3538728"/>
            <a:ext cx="4370832" cy="658368"/>
          </a:xfrm>
          <a:prstGeom prst="roundRect">
            <a:avLst>
              <a:gd name="adj" fmla="val 19444"/>
            </a:avLst>
          </a:prstGeom>
          <a:solidFill>
            <a:srgbClr val="F1F5F9"/>
          </a:solidFill>
          <a:ln w="12700">
            <a:solidFill>
              <a:srgbClr val="F1F5F9"/>
            </a:solidFill>
            <a:prstDash val="solid"/>
          </a:ln>
        </p:spPr>
      </p:sp>
      <p:sp>
        <p:nvSpPr>
          <p:cNvPr id="18" name="Shape 15"/>
          <p:cNvSpPr/>
          <p:nvPr/>
        </p:nvSpPr>
        <p:spPr>
          <a:xfrm>
            <a:off x="7379208" y="3657600"/>
            <a:ext cx="420624" cy="420624"/>
          </a:xfrm>
          <a:prstGeom prst="ellipse">
            <a:avLst/>
          </a:prstGeom>
          <a:solidFill>
            <a:srgbClr val="1E293B"/>
          </a:solidFill>
          <a:ln w="12700">
            <a:solidFill>
              <a:srgbClr val="1E293B"/>
            </a:solidFill>
            <a:prstDash val="solid"/>
          </a:ln>
        </p:spPr>
      </p:sp>
      <p:sp>
        <p:nvSpPr>
          <p:cNvPr id="19" name="Text 16"/>
          <p:cNvSpPr txBox="1"/>
          <p:nvPr/>
        </p:nvSpPr>
        <p:spPr>
          <a:xfrm>
            <a:off x="7379208" y="36576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7955280" y="3538728"/>
            <a:ext cx="3611880" cy="65836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Score each indicator from 1 to 5 (QGIS)</a:t>
            </a:r>
            <a:endParaRPr lang="en-US" sz="1350" dirty="0"/>
          </a:p>
        </p:txBody>
      </p:sp>
      <p:sp>
        <p:nvSpPr>
          <p:cNvPr id="21" name="Shape 18"/>
          <p:cNvSpPr/>
          <p:nvPr/>
        </p:nvSpPr>
        <p:spPr>
          <a:xfrm>
            <a:off x="7269480" y="4325112"/>
            <a:ext cx="4370832" cy="658368"/>
          </a:xfrm>
          <a:prstGeom prst="roundRect">
            <a:avLst>
              <a:gd name="adj" fmla="val 19444"/>
            </a:avLst>
          </a:prstGeom>
          <a:solidFill>
            <a:srgbClr val="F1F5F9"/>
          </a:solidFill>
          <a:ln w="12700">
            <a:solidFill>
              <a:srgbClr val="F1F5F9"/>
            </a:solidFill>
            <a:prstDash val="solid"/>
          </a:ln>
        </p:spPr>
      </p:sp>
      <p:sp>
        <p:nvSpPr>
          <p:cNvPr id="22" name="Shape 19"/>
          <p:cNvSpPr/>
          <p:nvPr/>
        </p:nvSpPr>
        <p:spPr>
          <a:xfrm>
            <a:off x="7379208" y="4443984"/>
            <a:ext cx="420624" cy="420624"/>
          </a:xfrm>
          <a:prstGeom prst="ellipse">
            <a:avLst/>
          </a:prstGeom>
          <a:solidFill>
            <a:srgbClr val="1E293B"/>
          </a:solidFill>
          <a:ln w="12700">
            <a:solidFill>
              <a:srgbClr val="1E293B"/>
            </a:solidFill>
            <a:prstDash val="solid"/>
          </a:ln>
        </p:spPr>
      </p:sp>
      <p:sp>
        <p:nvSpPr>
          <p:cNvPr id="23" name="Text 20"/>
          <p:cNvSpPr txBox="1"/>
          <p:nvPr/>
        </p:nvSpPr>
        <p:spPr>
          <a:xfrm>
            <a:off x="7379208" y="44439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7955280" y="4325112"/>
            <a:ext cx="3611880" cy="65836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Combine the scores: one UCSI per ward</a:t>
            </a:r>
            <a:endParaRPr lang="en-US" sz="1350" dirty="0"/>
          </a:p>
        </p:txBody>
      </p:sp>
      <p:sp>
        <p:nvSpPr>
          <p:cNvPr id="25" name="Shape 22"/>
          <p:cNvSpPr/>
          <p:nvPr/>
        </p:nvSpPr>
        <p:spPr>
          <a:xfrm>
            <a:off x="7269480" y="5111496"/>
            <a:ext cx="4370832" cy="658368"/>
          </a:xfrm>
          <a:prstGeom prst="roundRect">
            <a:avLst>
              <a:gd name="adj" fmla="val 19444"/>
            </a:avLst>
          </a:prstGeom>
          <a:solidFill>
            <a:srgbClr val="F1F5F9"/>
          </a:solidFill>
          <a:ln w="12700">
            <a:solidFill>
              <a:srgbClr val="F1F5F9"/>
            </a:solidFill>
            <a:prstDash val="solid"/>
          </a:ln>
        </p:spPr>
      </p:sp>
      <p:sp>
        <p:nvSpPr>
          <p:cNvPr id="26" name="Shape 23"/>
          <p:cNvSpPr/>
          <p:nvPr/>
        </p:nvSpPr>
        <p:spPr>
          <a:xfrm>
            <a:off x="7379208" y="5230368"/>
            <a:ext cx="420624" cy="420624"/>
          </a:xfrm>
          <a:prstGeom prst="ellipse">
            <a:avLst/>
          </a:prstGeom>
          <a:solidFill>
            <a:srgbClr val="1E293B"/>
          </a:solidFill>
          <a:ln w="12700">
            <a:solidFill>
              <a:srgbClr val="1E293B"/>
            </a:solidFill>
            <a:prstDash val="solid"/>
          </a:ln>
        </p:spPr>
      </p:sp>
      <p:sp>
        <p:nvSpPr>
          <p:cNvPr id="27" name="Text 24"/>
          <p:cNvSpPr txBox="1"/>
          <p:nvPr/>
        </p:nvSpPr>
        <p:spPr>
          <a:xfrm>
            <a:off x="7379208" y="52303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7955280" y="5111496"/>
            <a:ext cx="3611880" cy="65836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Query, map and check the result (QGIS)</a:t>
            </a:r>
            <a:endParaRPr lang="en-US" sz="1350" dirty="0"/>
          </a:p>
        </p:txBody>
      </p:sp>
      <p:sp>
        <p:nvSpPr>
          <p:cNvPr id="29" name="Text 26"/>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30" name="Text 27"/>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4 / 7</a:t>
            </a:r>
            <a:endParaRPr lang="en-US" sz="900" dirty="0"/>
          </a:p>
        </p:txBody>
      </p:sp>
      <p:sp>
        <p:nvSpPr>
          <p:cNvPr id="31" name="Text 28"/>
          <p:cNvSpPr txBox="1"/>
          <p:nvPr/>
        </p:nvSpPr>
        <p:spPr>
          <a:xfrm>
            <a:off x="548640" y="6144768"/>
            <a:ext cx="11091672" cy="274320"/>
          </a:xfrm>
          <a:prstGeom prst="rect">
            <a:avLst/>
          </a:prstGeom>
          <a:noFill/>
          <a:ln/>
        </p:spPr>
        <p:txBody>
          <a:bodyPr wrap="square" lIns="0" tIns="0" rIns="0" bIns="0" rtlCol="0" anchor="t"/>
          <a:lstStyle/>
          <a:p>
            <a:pPr indent="0" marL="0">
              <a:buNone/>
            </a:pPr>
            <a:r>
              <a:rPr lang="en-US" sz="950" i="1" dirty="0">
                <a:solidFill>
                  <a:srgbClr val="64748B"/>
                </a:solidFill>
                <a:latin typeface="Calibri" pitchFamily="34" charset="0"/>
                <a:ea typeface="Calibri" pitchFamily="34" charset="-122"/>
                <a:cs typeface="Calibri" pitchFamily="34" charset="-120"/>
              </a:rPr>
              <a:t>Rainfall is not used as a factor: 5-km rainfall data gives only about 4 pixels over the whole city. Five Google Earth Engine scripts for the same steps are in the project folder (gee/); they are written but not yet run.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4  ·  RESULTS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Results: four maps from the QGIS project</a:t>
            </a:r>
            <a:endParaRPr lang="en-US" sz="3400" dirty="0"/>
          </a:p>
        </p:txBody>
      </p:sp>
      <p:pic>
        <p:nvPicPr>
          <p:cNvPr id="4" name="Image 0" descr="C:/Users/farha/AppData/Local/Temp/claude/G--5-Claude-Chats-college/081d4375-70ed-43ee-a64d-1d2d6cb50bb2/scratchpad/hasnat/out/strip_qgis.png">    </p:cNvPr>
          <p:cNvPicPr>
            <a:picLocks noChangeAspect="1"/>
          </p:cNvPicPr>
          <p:nvPr/>
        </p:nvPicPr>
        <p:blipFill>
          <a:blip r:embed="rId1"/>
          <a:stretch>
            <a:fillRect/>
          </a:stretch>
        </p:blipFill>
        <p:spPr>
          <a:xfrm>
            <a:off x="548640" y="1508760"/>
            <a:ext cx="6632191" cy="4526280"/>
          </a:xfrm>
          <a:prstGeom prst="rect">
            <a:avLst/>
          </a:prstGeom>
        </p:spPr>
      </p:pic>
      <p:sp>
        <p:nvSpPr>
          <p:cNvPr id="5" name="Shape 2"/>
          <p:cNvSpPr/>
          <p:nvPr/>
        </p:nvSpPr>
        <p:spPr>
          <a:xfrm>
            <a:off x="8549640" y="1463040"/>
            <a:ext cx="3090672" cy="1417320"/>
          </a:xfrm>
          <a:prstGeom prst="roundRect">
            <a:avLst>
              <a:gd name="adj" fmla="val 9032"/>
            </a:avLst>
          </a:prstGeom>
          <a:solidFill>
            <a:srgbClr val="F1F5F9"/>
          </a:solidFill>
          <a:ln w="12700">
            <a:solidFill>
              <a:srgbClr val="F1F5F9"/>
            </a:solidFill>
            <a:prstDash val="solid"/>
          </a:ln>
        </p:spPr>
      </p:sp>
      <p:sp>
        <p:nvSpPr>
          <p:cNvPr id="6" name="Text 3"/>
          <p:cNvSpPr txBox="1"/>
          <p:nvPr/>
        </p:nvSpPr>
        <p:spPr>
          <a:xfrm>
            <a:off x="8732520" y="1572768"/>
            <a:ext cx="2743200" cy="548640"/>
          </a:xfrm>
          <a:prstGeom prst="rect">
            <a:avLst/>
          </a:prstGeom>
          <a:noFill/>
          <a:ln/>
        </p:spPr>
        <p:txBody>
          <a:bodyPr wrap="square" lIns="0" tIns="0" rIns="0" bIns="0" rtlCol="0" anchor="t"/>
          <a:lstStyle/>
          <a:p>
            <a:pPr indent="0" marL="0">
              <a:buNone/>
            </a:pPr>
            <a:r>
              <a:rPr lang="en-US" sz="2800" b="1" dirty="0">
                <a:solidFill>
                  <a:srgbClr val="EA580C"/>
                </a:solidFill>
                <a:latin typeface="Cambria" pitchFamily="34" charset="0"/>
                <a:ea typeface="Cambria" pitchFamily="34" charset="-122"/>
                <a:cs typeface="Cambria" pitchFamily="34" charset="-120"/>
              </a:rPr>
              <a:t>13.9 °C</a:t>
            </a:r>
            <a:endParaRPr lang="en-US" sz="2800" dirty="0"/>
          </a:p>
        </p:txBody>
      </p:sp>
      <p:sp>
        <p:nvSpPr>
          <p:cNvPr id="7" name="Text 4"/>
          <p:cNvSpPr txBox="1"/>
          <p:nvPr/>
        </p:nvSpPr>
        <p:spPr>
          <a:xfrm>
            <a:off x="8732520" y="2176272"/>
            <a:ext cx="2743200" cy="64008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gap between the hottest and coolest ward (47.6 and 33.7 °C)</a:t>
            </a:r>
            <a:endParaRPr lang="en-US" sz="1250" dirty="0"/>
          </a:p>
        </p:txBody>
      </p:sp>
      <p:sp>
        <p:nvSpPr>
          <p:cNvPr id="8" name="Shape 5"/>
          <p:cNvSpPr/>
          <p:nvPr/>
        </p:nvSpPr>
        <p:spPr>
          <a:xfrm>
            <a:off x="8549640" y="3017520"/>
            <a:ext cx="3090672" cy="1417320"/>
          </a:xfrm>
          <a:prstGeom prst="roundRect">
            <a:avLst>
              <a:gd name="adj" fmla="val 9032"/>
            </a:avLst>
          </a:prstGeom>
          <a:solidFill>
            <a:srgbClr val="F1F5F9"/>
          </a:solidFill>
          <a:ln w="12700">
            <a:solidFill>
              <a:srgbClr val="F1F5F9"/>
            </a:solidFill>
            <a:prstDash val="solid"/>
          </a:ln>
        </p:spPr>
      </p:sp>
      <p:sp>
        <p:nvSpPr>
          <p:cNvPr id="9" name="Text 6"/>
          <p:cNvSpPr txBox="1"/>
          <p:nvPr/>
        </p:nvSpPr>
        <p:spPr>
          <a:xfrm>
            <a:off x="8732520" y="3127248"/>
            <a:ext cx="2743200" cy="548640"/>
          </a:xfrm>
          <a:prstGeom prst="rect">
            <a:avLst/>
          </a:prstGeom>
          <a:noFill/>
          <a:ln/>
        </p:spPr>
        <p:txBody>
          <a:bodyPr wrap="square" lIns="0" tIns="0" rIns="0" bIns="0" rtlCol="0" anchor="t"/>
          <a:lstStyle/>
          <a:p>
            <a:pPr indent="0" marL="0">
              <a:buNone/>
            </a:pPr>
            <a:r>
              <a:rPr lang="en-US" sz="2800" b="1" dirty="0">
                <a:solidFill>
                  <a:srgbClr val="EA580C"/>
                </a:solidFill>
                <a:latin typeface="Cambria" pitchFamily="34" charset="0"/>
                <a:ea typeface="Cambria" pitchFamily="34" charset="-122"/>
                <a:cs typeface="Cambria" pitchFamily="34" charset="-120"/>
              </a:rPr>
              <a:t>+0.76 / −0.75</a:t>
            </a:r>
            <a:endParaRPr lang="en-US" sz="2800" dirty="0"/>
          </a:p>
        </p:txBody>
      </p:sp>
      <p:sp>
        <p:nvSpPr>
          <p:cNvPr id="10" name="Text 7"/>
          <p:cNvSpPr txBox="1"/>
          <p:nvPr/>
        </p:nvSpPr>
        <p:spPr>
          <a:xfrm>
            <a:off x="8732520" y="3730752"/>
            <a:ext cx="2743200" cy="64008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correlation of temperature with built-up land / with vegetation (111 wards)</a:t>
            </a:r>
            <a:endParaRPr lang="en-US" sz="1250" dirty="0"/>
          </a:p>
        </p:txBody>
      </p:sp>
      <p:sp>
        <p:nvSpPr>
          <p:cNvPr id="11" name="Shape 8"/>
          <p:cNvSpPr/>
          <p:nvPr/>
        </p:nvSpPr>
        <p:spPr>
          <a:xfrm>
            <a:off x="8549640" y="4572000"/>
            <a:ext cx="3090672" cy="1417320"/>
          </a:xfrm>
          <a:prstGeom prst="roundRect">
            <a:avLst>
              <a:gd name="adj" fmla="val 9032"/>
            </a:avLst>
          </a:prstGeom>
          <a:solidFill>
            <a:srgbClr val="F1F5F9"/>
          </a:solidFill>
          <a:ln w="12700">
            <a:solidFill>
              <a:srgbClr val="F1F5F9"/>
            </a:solidFill>
            <a:prstDash val="solid"/>
          </a:ln>
        </p:spPr>
      </p:sp>
      <p:sp>
        <p:nvSpPr>
          <p:cNvPr id="12" name="Text 9"/>
          <p:cNvSpPr txBox="1"/>
          <p:nvPr/>
        </p:nvSpPr>
        <p:spPr>
          <a:xfrm>
            <a:off x="8732520" y="4681728"/>
            <a:ext cx="2743200" cy="548640"/>
          </a:xfrm>
          <a:prstGeom prst="rect">
            <a:avLst/>
          </a:prstGeom>
          <a:noFill/>
          <a:ln/>
        </p:spPr>
        <p:txBody>
          <a:bodyPr wrap="square" lIns="0" tIns="0" rIns="0" bIns="0" rtlCol="0" anchor="t"/>
          <a:lstStyle/>
          <a:p>
            <a:pPr indent="0" marL="0">
              <a:buNone/>
            </a:pPr>
            <a:r>
              <a:rPr lang="en-US" sz="2800" b="1" dirty="0">
                <a:solidFill>
                  <a:srgbClr val="16A34A"/>
                </a:solidFill>
                <a:latin typeface="Cambria" pitchFamily="34" charset="0"/>
                <a:ea typeface="Cambria" pitchFamily="34" charset="-122"/>
                <a:cs typeface="Cambria" pitchFamily="34" charset="-120"/>
              </a:rPr>
              <a:t>23 wards</a:t>
            </a:r>
            <a:endParaRPr lang="en-US" sz="2800" dirty="0"/>
          </a:p>
        </p:txBody>
      </p:sp>
      <p:sp>
        <p:nvSpPr>
          <p:cNvPr id="13" name="Text 10"/>
          <p:cNvSpPr txBox="1"/>
          <p:nvPr/>
        </p:nvSpPr>
        <p:spPr>
          <a:xfrm>
            <a:off x="8732520" y="5285232"/>
            <a:ext cx="2743200" cy="64008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in the highest stress class, but only 8.1 km² (6.6% of the city)</a:t>
            </a:r>
            <a:endParaRPr lang="en-US" sz="1250" dirty="0"/>
          </a:p>
        </p:txBody>
      </p:sp>
      <p:sp>
        <p:nvSpPr>
          <p:cNvPr id="14" name="Text 11"/>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15" name="Text 12"/>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5 / 7</a:t>
            </a:r>
            <a:endParaRPr lang="en-US" sz="900" dirty="0"/>
          </a:p>
        </p:txBody>
      </p:sp>
      <p:sp>
        <p:nvSpPr>
          <p:cNvPr id="16" name="Text 13"/>
          <p:cNvSpPr txBox="1"/>
          <p:nvPr/>
        </p:nvSpPr>
        <p:spPr>
          <a:xfrm>
            <a:off x="548640" y="6144768"/>
            <a:ext cx="11091672" cy="274320"/>
          </a:xfrm>
          <a:prstGeom prst="rect">
            <a:avLst/>
          </a:prstGeom>
          <a:noFill/>
          <a:ln/>
        </p:spPr>
        <p:txBody>
          <a:bodyPr wrap="square" lIns="0" tIns="0" rIns="0" bIns="0" rtlCol="0" anchor="t"/>
          <a:lstStyle/>
          <a:p>
            <a:pPr indent="0" marL="0">
              <a:buNone/>
            </a:pPr>
            <a:r>
              <a:rPr lang="en-US" sz="950" i="1" dirty="0">
                <a:solidFill>
                  <a:srgbClr val="64748B"/>
                </a:solidFill>
                <a:latin typeface="Calibri" pitchFamily="34" charset="0"/>
                <a:ea typeface="Calibri" pitchFamily="34" charset="-122"/>
                <a:cs typeface="Calibri" pitchFamily="34" charset="-120"/>
              </a:rPr>
              <a:t>Data: Landsat 8/9 (13, 22, 30 Apr 2026, median), Sentinel-2 (8, 11 Apr), ESA WorldCover 2021, SRTM. Maps exported from QGIS. Ward level, one season (April 2026).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5  ·  DATABASE AND QUERIES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Database design and queries</a:t>
            </a:r>
            <a:endParaRPr lang="en-US" sz="3400" dirty="0"/>
          </a:p>
        </p:txBody>
      </p:sp>
      <p:sp>
        <p:nvSpPr>
          <p:cNvPr id="4" name="Shape 2"/>
          <p:cNvSpPr/>
          <p:nvPr/>
        </p:nvSpPr>
        <p:spPr>
          <a:xfrm>
            <a:off x="548640" y="1554480"/>
            <a:ext cx="4206240" cy="4480560"/>
          </a:xfrm>
          <a:prstGeom prst="roundRect">
            <a:avLst>
              <a:gd name="adj" fmla="val 3043"/>
            </a:avLst>
          </a:prstGeom>
          <a:solidFill>
            <a:srgbClr val="F1F5F9"/>
          </a:solidFill>
          <a:ln w="12700">
            <a:solidFill>
              <a:srgbClr val="F1F5F9"/>
            </a:solidFill>
            <a:prstDash val="solid"/>
          </a:ln>
        </p:spPr>
      </p:sp>
      <p:sp>
        <p:nvSpPr>
          <p:cNvPr id="5" name="Shape 3"/>
          <p:cNvSpPr/>
          <p:nvPr/>
        </p:nvSpPr>
        <p:spPr>
          <a:xfrm>
            <a:off x="777240" y="1719072"/>
            <a:ext cx="566928" cy="566928"/>
          </a:xfrm>
          <a:prstGeom prst="ellipse">
            <a:avLst/>
          </a:prstGeom>
          <a:solidFill>
            <a:srgbClr val="1E293B"/>
          </a:solidFill>
          <a:ln w="12700">
            <a:solidFill>
              <a:srgbClr val="1E293B"/>
            </a:solidFill>
            <a:prstDash val="solid"/>
          </a:ln>
        </p:spPr>
      </p:sp>
      <p:pic>
        <p:nvPicPr>
          <p:cNvPr id="6" name="Image 0" descr="preencoded.png">    </p:cNvPr>
          <p:cNvPicPr>
            <a:picLocks noChangeAspect="1"/>
          </p:cNvPicPr>
          <p:nvPr/>
        </p:nvPicPr>
        <p:blipFill>
          <a:blip r:embed="rId1"/>
          <a:stretch>
            <a:fillRect/>
          </a:stretch>
        </p:blipFill>
        <p:spPr>
          <a:xfrm>
            <a:off x="918972" y="1860804"/>
            <a:ext cx="283464" cy="283464"/>
          </a:xfrm>
          <a:prstGeom prst="rect">
            <a:avLst/>
          </a:prstGeom>
        </p:spPr>
      </p:pic>
      <p:sp>
        <p:nvSpPr>
          <p:cNvPr id="7" name="Text 4"/>
          <p:cNvSpPr txBox="1"/>
          <p:nvPr/>
        </p:nvSpPr>
        <p:spPr>
          <a:xfrm>
            <a:off x="1508760" y="1783080"/>
            <a:ext cx="3108960" cy="365760"/>
          </a:xfrm>
          <a:prstGeom prst="rect">
            <a:avLst/>
          </a:prstGeom>
          <a:noFill/>
          <a:ln/>
        </p:spPr>
        <p:txBody>
          <a:bodyPr wrap="square" lIns="0" tIns="0" rIns="0" bIns="0" rtlCol="0" anchor="t"/>
          <a:lstStyle/>
          <a:p>
            <a:pPr indent="0" marL="0">
              <a:buNone/>
            </a:pPr>
            <a:r>
              <a:rPr lang="en-US" sz="1700" b="1" dirty="0">
                <a:solidFill>
                  <a:srgbClr val="0F172A"/>
                </a:solidFill>
                <a:latin typeface="Cambria" pitchFamily="34" charset="0"/>
                <a:ea typeface="Cambria" pitchFamily="34" charset="-122"/>
                <a:cs typeface="Cambria" pitchFamily="34" charset="-120"/>
              </a:rPr>
              <a:t>GeoPackage database</a:t>
            </a:r>
            <a:endParaRPr lang="en-US" sz="1700" dirty="0"/>
          </a:p>
        </p:txBody>
      </p:sp>
      <p:sp>
        <p:nvSpPr>
          <p:cNvPr id="8" name="Text 5"/>
          <p:cNvSpPr txBox="1"/>
          <p:nvPr/>
        </p:nvSpPr>
        <p:spPr>
          <a:xfrm>
            <a:off x="822960" y="2423160"/>
            <a:ext cx="2651760" cy="4114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Wards (111)</a:t>
            </a:r>
            <a:endParaRPr lang="en-US" sz="1350" dirty="0"/>
          </a:p>
        </p:txBody>
      </p:sp>
      <p:sp>
        <p:nvSpPr>
          <p:cNvPr id="9" name="Shape 6"/>
          <p:cNvSpPr/>
          <p:nvPr/>
        </p:nvSpPr>
        <p:spPr>
          <a:xfrm>
            <a:off x="3566160" y="2496312"/>
            <a:ext cx="1005840" cy="256032"/>
          </a:xfrm>
          <a:prstGeom prst="roundRect">
            <a:avLst>
              <a:gd name="adj" fmla="val 50000"/>
            </a:avLst>
          </a:prstGeom>
          <a:solidFill>
            <a:srgbClr val="2563EB"/>
          </a:solidFill>
          <a:ln w="12700">
            <a:solidFill>
              <a:srgbClr val="2563EB"/>
            </a:solidFill>
            <a:prstDash val="solid"/>
          </a:ln>
        </p:spPr>
      </p:sp>
      <p:sp>
        <p:nvSpPr>
          <p:cNvPr id="10" name="Text 7"/>
          <p:cNvSpPr txBox="1"/>
          <p:nvPr/>
        </p:nvSpPr>
        <p:spPr>
          <a:xfrm>
            <a:off x="3566160" y="2496312"/>
            <a:ext cx="10058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polygon</a:t>
            </a:r>
            <a:endParaRPr lang="en-US" sz="1050" dirty="0"/>
          </a:p>
        </p:txBody>
      </p:sp>
      <p:sp>
        <p:nvSpPr>
          <p:cNvPr id="11" name="Text 8"/>
          <p:cNvSpPr txBox="1"/>
          <p:nvPr/>
        </p:nvSpPr>
        <p:spPr>
          <a:xfrm>
            <a:off x="822960" y="2935224"/>
            <a:ext cx="2651760" cy="4114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Water bodies (100)</a:t>
            </a:r>
            <a:endParaRPr lang="en-US" sz="1350" dirty="0"/>
          </a:p>
        </p:txBody>
      </p:sp>
      <p:sp>
        <p:nvSpPr>
          <p:cNvPr id="12" name="Shape 9"/>
          <p:cNvSpPr/>
          <p:nvPr/>
        </p:nvSpPr>
        <p:spPr>
          <a:xfrm>
            <a:off x="3566160" y="3008376"/>
            <a:ext cx="1005840" cy="256032"/>
          </a:xfrm>
          <a:prstGeom prst="roundRect">
            <a:avLst>
              <a:gd name="adj" fmla="val 50000"/>
            </a:avLst>
          </a:prstGeom>
          <a:solidFill>
            <a:srgbClr val="2563EB"/>
          </a:solidFill>
          <a:ln w="12700">
            <a:solidFill>
              <a:srgbClr val="2563EB"/>
            </a:solidFill>
            <a:prstDash val="solid"/>
          </a:ln>
        </p:spPr>
      </p:sp>
      <p:sp>
        <p:nvSpPr>
          <p:cNvPr id="13" name="Text 10"/>
          <p:cNvSpPr txBox="1"/>
          <p:nvPr/>
        </p:nvSpPr>
        <p:spPr>
          <a:xfrm>
            <a:off x="3566160" y="3008376"/>
            <a:ext cx="10058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polygon</a:t>
            </a:r>
            <a:endParaRPr lang="en-US" sz="1050" dirty="0"/>
          </a:p>
        </p:txBody>
      </p:sp>
      <p:sp>
        <p:nvSpPr>
          <p:cNvPr id="14" name="Text 11"/>
          <p:cNvSpPr txBox="1"/>
          <p:nvPr/>
        </p:nvSpPr>
        <p:spPr>
          <a:xfrm>
            <a:off x="822960" y="3447288"/>
            <a:ext cx="2651760" cy="4114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Major roads (729)</a:t>
            </a:r>
            <a:endParaRPr lang="en-US" sz="1350" dirty="0"/>
          </a:p>
        </p:txBody>
      </p:sp>
      <p:sp>
        <p:nvSpPr>
          <p:cNvPr id="15" name="Shape 12"/>
          <p:cNvSpPr/>
          <p:nvPr/>
        </p:nvSpPr>
        <p:spPr>
          <a:xfrm>
            <a:off x="3566160" y="3520440"/>
            <a:ext cx="1005840" cy="256032"/>
          </a:xfrm>
          <a:prstGeom prst="roundRect">
            <a:avLst>
              <a:gd name="adj" fmla="val 50000"/>
            </a:avLst>
          </a:prstGeom>
          <a:solidFill>
            <a:srgbClr val="EA580C"/>
          </a:solidFill>
          <a:ln w="12700">
            <a:solidFill>
              <a:srgbClr val="EA580C"/>
            </a:solidFill>
            <a:prstDash val="solid"/>
          </a:ln>
        </p:spPr>
      </p:sp>
      <p:sp>
        <p:nvSpPr>
          <p:cNvPr id="16" name="Text 13"/>
          <p:cNvSpPr txBox="1"/>
          <p:nvPr/>
        </p:nvSpPr>
        <p:spPr>
          <a:xfrm>
            <a:off x="3566160" y="3520440"/>
            <a:ext cx="10058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line</a:t>
            </a:r>
            <a:endParaRPr lang="en-US" sz="1050" dirty="0"/>
          </a:p>
        </p:txBody>
      </p:sp>
      <p:sp>
        <p:nvSpPr>
          <p:cNvPr id="17" name="Text 14"/>
          <p:cNvSpPr txBox="1"/>
          <p:nvPr/>
        </p:nvSpPr>
        <p:spPr>
          <a:xfrm>
            <a:off x="822960" y="3959352"/>
            <a:ext cx="2651760" cy="4114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Hospitals (93)</a:t>
            </a:r>
            <a:endParaRPr lang="en-US" sz="1350" dirty="0"/>
          </a:p>
        </p:txBody>
      </p:sp>
      <p:sp>
        <p:nvSpPr>
          <p:cNvPr id="18" name="Shape 15"/>
          <p:cNvSpPr/>
          <p:nvPr/>
        </p:nvSpPr>
        <p:spPr>
          <a:xfrm>
            <a:off x="3566160" y="4032504"/>
            <a:ext cx="1005840" cy="256032"/>
          </a:xfrm>
          <a:prstGeom prst="roundRect">
            <a:avLst>
              <a:gd name="adj" fmla="val 50000"/>
            </a:avLst>
          </a:prstGeom>
          <a:solidFill>
            <a:srgbClr val="F59E0B"/>
          </a:solidFill>
          <a:ln w="12700">
            <a:solidFill>
              <a:srgbClr val="F59E0B"/>
            </a:solidFill>
            <a:prstDash val="solid"/>
          </a:ln>
        </p:spPr>
      </p:sp>
      <p:sp>
        <p:nvSpPr>
          <p:cNvPr id="19" name="Text 16"/>
          <p:cNvSpPr txBox="1"/>
          <p:nvPr/>
        </p:nvSpPr>
        <p:spPr>
          <a:xfrm>
            <a:off x="3566160" y="4032504"/>
            <a:ext cx="10058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point</a:t>
            </a:r>
            <a:endParaRPr lang="en-US" sz="1050" dirty="0"/>
          </a:p>
        </p:txBody>
      </p:sp>
      <p:sp>
        <p:nvSpPr>
          <p:cNvPr id="20" name="Text 17"/>
          <p:cNvSpPr txBox="1"/>
          <p:nvPr/>
        </p:nvSpPr>
        <p:spPr>
          <a:xfrm>
            <a:off x="822960" y="4471416"/>
            <a:ext cx="2651760" cy="4114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Flood reports (3)</a:t>
            </a:r>
            <a:endParaRPr lang="en-US" sz="1350" dirty="0"/>
          </a:p>
        </p:txBody>
      </p:sp>
      <p:sp>
        <p:nvSpPr>
          <p:cNvPr id="21" name="Shape 18"/>
          <p:cNvSpPr/>
          <p:nvPr/>
        </p:nvSpPr>
        <p:spPr>
          <a:xfrm>
            <a:off x="3566160" y="4544568"/>
            <a:ext cx="1005840" cy="256032"/>
          </a:xfrm>
          <a:prstGeom prst="roundRect">
            <a:avLst>
              <a:gd name="adj" fmla="val 50000"/>
            </a:avLst>
          </a:prstGeom>
          <a:solidFill>
            <a:srgbClr val="F59E0B"/>
          </a:solidFill>
          <a:ln w="12700">
            <a:solidFill>
              <a:srgbClr val="F59E0B"/>
            </a:solidFill>
            <a:prstDash val="solid"/>
          </a:ln>
        </p:spPr>
      </p:sp>
      <p:sp>
        <p:nvSpPr>
          <p:cNvPr id="22" name="Text 19"/>
          <p:cNvSpPr txBox="1"/>
          <p:nvPr/>
        </p:nvSpPr>
        <p:spPr>
          <a:xfrm>
            <a:off x="3566160" y="4544568"/>
            <a:ext cx="10058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point</a:t>
            </a:r>
            <a:endParaRPr lang="en-US" sz="1050" dirty="0"/>
          </a:p>
        </p:txBody>
      </p:sp>
      <p:sp>
        <p:nvSpPr>
          <p:cNvPr id="23" name="Text 20"/>
          <p:cNvSpPr txBox="1"/>
          <p:nvPr/>
        </p:nvSpPr>
        <p:spPr>
          <a:xfrm>
            <a:off x="822960" y="4983480"/>
            <a:ext cx="2651760" cy="4114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LST by date (333 rows)</a:t>
            </a:r>
            <a:endParaRPr lang="en-US" sz="1350" dirty="0"/>
          </a:p>
        </p:txBody>
      </p:sp>
      <p:sp>
        <p:nvSpPr>
          <p:cNvPr id="24" name="Shape 21"/>
          <p:cNvSpPr/>
          <p:nvPr/>
        </p:nvSpPr>
        <p:spPr>
          <a:xfrm>
            <a:off x="3566160" y="5056632"/>
            <a:ext cx="1005840" cy="256032"/>
          </a:xfrm>
          <a:prstGeom prst="roundRect">
            <a:avLst>
              <a:gd name="adj" fmla="val 50000"/>
            </a:avLst>
          </a:prstGeom>
          <a:solidFill>
            <a:srgbClr val="16A34A"/>
          </a:solidFill>
          <a:ln w="12700">
            <a:solidFill>
              <a:srgbClr val="16A34A"/>
            </a:solidFill>
            <a:prstDash val="solid"/>
          </a:ln>
        </p:spPr>
      </p:sp>
      <p:sp>
        <p:nvSpPr>
          <p:cNvPr id="25" name="Text 22"/>
          <p:cNvSpPr txBox="1"/>
          <p:nvPr/>
        </p:nvSpPr>
        <p:spPr>
          <a:xfrm>
            <a:off x="3566160" y="5056632"/>
            <a:ext cx="10058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table</a:t>
            </a:r>
            <a:endParaRPr lang="en-US" sz="1050" dirty="0"/>
          </a:p>
        </p:txBody>
      </p:sp>
      <p:sp>
        <p:nvSpPr>
          <p:cNvPr id="26" name="Text 23"/>
          <p:cNvSpPr txBox="1"/>
          <p:nvPr/>
        </p:nvSpPr>
        <p:spPr>
          <a:xfrm>
            <a:off x="822960" y="5486400"/>
            <a:ext cx="3749040" cy="50292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Also: city boundary, hot and low-green zones, 9 rasters, 2 relations (key Ward_ID). Field types: Integer, Text, Decimal, Date.</a:t>
            </a:r>
            <a:endParaRPr lang="en-US" sz="1100" dirty="0"/>
          </a:p>
        </p:txBody>
      </p:sp>
      <p:sp>
        <p:nvSpPr>
          <p:cNvPr id="27" name="Shape 24"/>
          <p:cNvSpPr/>
          <p:nvPr/>
        </p:nvSpPr>
        <p:spPr>
          <a:xfrm>
            <a:off x="4937760" y="1554480"/>
            <a:ext cx="6702552" cy="4480560"/>
          </a:xfrm>
          <a:prstGeom prst="roundRect">
            <a:avLst>
              <a:gd name="adj" fmla="val 2857"/>
            </a:avLst>
          </a:prstGeom>
          <a:solidFill>
            <a:srgbClr val="F1F5F9"/>
          </a:solidFill>
          <a:ln w="12700">
            <a:solidFill>
              <a:srgbClr val="F1F5F9"/>
            </a:solidFill>
            <a:prstDash val="solid"/>
          </a:ln>
        </p:spPr>
      </p:sp>
      <p:sp>
        <p:nvSpPr>
          <p:cNvPr id="28" name="Text 25"/>
          <p:cNvSpPr txBox="1"/>
          <p:nvPr/>
        </p:nvSpPr>
        <p:spPr>
          <a:xfrm>
            <a:off x="5166360" y="1645920"/>
            <a:ext cx="6217920" cy="292608"/>
          </a:xfrm>
          <a:prstGeom prst="rect">
            <a:avLst/>
          </a:prstGeom>
          <a:noFill/>
          <a:ln/>
        </p:spPr>
        <p:txBody>
          <a:bodyPr wrap="square" lIns="0" tIns="0" rIns="0" bIns="0" rtlCol="0" anchor="t"/>
          <a:lstStyle/>
          <a:p>
            <a:pPr indent="0" marL="0">
              <a:buNone/>
            </a:pPr>
            <a:r>
              <a:rPr lang="en-US" sz="1350" b="1" dirty="0">
                <a:solidFill>
                  <a:srgbClr val="EA580C"/>
                </a:solidFill>
                <a:latin typeface="Calibri" pitchFamily="34" charset="0"/>
                <a:ea typeface="Calibri" pitchFamily="34" charset="-122"/>
                <a:cs typeface="Calibri" pitchFamily="34" charset="-120"/>
              </a:rPr>
              <a:t>5 attribute queries  (search by data)</a:t>
            </a:r>
            <a:endParaRPr lang="en-US" sz="1350" dirty="0"/>
          </a:p>
        </p:txBody>
      </p:sp>
      <p:sp>
        <p:nvSpPr>
          <p:cNvPr id="29" name="Text 26"/>
          <p:cNvSpPr txBox="1"/>
          <p:nvPr/>
        </p:nvSpPr>
        <p:spPr>
          <a:xfrm>
            <a:off x="5166360" y="1993392"/>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Built-up 80% or more</a:t>
            </a:r>
            <a:endParaRPr lang="en-US" sz="1250" dirty="0"/>
          </a:p>
        </p:txBody>
      </p:sp>
      <p:sp>
        <p:nvSpPr>
          <p:cNvPr id="30" name="Text 27"/>
          <p:cNvSpPr txBox="1"/>
          <p:nvPr/>
        </p:nvSpPr>
        <p:spPr>
          <a:xfrm>
            <a:off x="9692640" y="1993392"/>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30 wards</a:t>
            </a:r>
            <a:endParaRPr lang="en-US" sz="1250" dirty="0"/>
          </a:p>
        </p:txBody>
      </p:sp>
      <p:sp>
        <p:nvSpPr>
          <p:cNvPr id="31" name="Text 28"/>
          <p:cNvSpPr txBox="1"/>
          <p:nvPr/>
        </p:nvSpPr>
        <p:spPr>
          <a:xfrm>
            <a:off x="5166360" y="2322576"/>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Vegetation (NDVI) below 0.2</a:t>
            </a:r>
            <a:endParaRPr lang="en-US" sz="1250" dirty="0"/>
          </a:p>
        </p:txBody>
      </p:sp>
      <p:sp>
        <p:nvSpPr>
          <p:cNvPr id="32" name="Text 29"/>
          <p:cNvSpPr txBox="1"/>
          <p:nvPr/>
        </p:nvSpPr>
        <p:spPr>
          <a:xfrm>
            <a:off x="9692640" y="2322576"/>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24 wards</a:t>
            </a:r>
            <a:endParaRPr lang="en-US" sz="1250" dirty="0"/>
          </a:p>
        </p:txBody>
      </p:sp>
      <p:sp>
        <p:nvSpPr>
          <p:cNvPr id="33" name="Text 30"/>
          <p:cNvSpPr txBox="1"/>
          <p:nvPr/>
        </p:nvSpPr>
        <p:spPr>
          <a:xfrm>
            <a:off x="5166360" y="2651760"/>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Temperature 45 °C or more</a:t>
            </a:r>
            <a:endParaRPr lang="en-US" sz="1250" dirty="0"/>
          </a:p>
        </p:txBody>
      </p:sp>
      <p:sp>
        <p:nvSpPr>
          <p:cNvPr id="34" name="Text 31"/>
          <p:cNvSpPr txBox="1"/>
          <p:nvPr/>
        </p:nvSpPr>
        <p:spPr>
          <a:xfrm>
            <a:off x="9692640" y="2651760"/>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23 wards</a:t>
            </a:r>
            <a:endParaRPr lang="en-US" sz="1250" dirty="0"/>
          </a:p>
        </p:txBody>
      </p:sp>
      <p:sp>
        <p:nvSpPr>
          <p:cNvPr id="35" name="Text 32"/>
          <p:cNvSpPr txBox="1"/>
          <p:nvPr/>
        </p:nvSpPr>
        <p:spPr>
          <a:xfrm>
            <a:off x="5166360" y="2980944"/>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Flood score 4.5 or more</a:t>
            </a:r>
            <a:endParaRPr lang="en-US" sz="1250" dirty="0"/>
          </a:p>
        </p:txBody>
      </p:sp>
      <p:sp>
        <p:nvSpPr>
          <p:cNvPr id="36" name="Text 33"/>
          <p:cNvSpPr txBox="1"/>
          <p:nvPr/>
        </p:nvSpPr>
        <p:spPr>
          <a:xfrm>
            <a:off x="9692640" y="2980944"/>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22 wards</a:t>
            </a:r>
            <a:endParaRPr lang="en-US" sz="1250" dirty="0"/>
          </a:p>
        </p:txBody>
      </p:sp>
      <p:sp>
        <p:nvSpPr>
          <p:cNvPr id="37" name="Text 34"/>
          <p:cNvSpPr txBox="1"/>
          <p:nvPr/>
        </p:nvSpPr>
        <p:spPr>
          <a:xfrm>
            <a:off x="5166360" y="3310128"/>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Built-up 80%+ and NDVI below 0.2</a:t>
            </a:r>
            <a:endParaRPr lang="en-US" sz="1250" dirty="0"/>
          </a:p>
        </p:txBody>
      </p:sp>
      <p:sp>
        <p:nvSpPr>
          <p:cNvPr id="38" name="Text 35"/>
          <p:cNvSpPr txBox="1"/>
          <p:nvPr/>
        </p:nvSpPr>
        <p:spPr>
          <a:xfrm>
            <a:off x="9692640" y="3310128"/>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18 wards</a:t>
            </a:r>
            <a:endParaRPr lang="en-US" sz="1250" dirty="0"/>
          </a:p>
        </p:txBody>
      </p:sp>
      <p:sp>
        <p:nvSpPr>
          <p:cNvPr id="39" name="Text 36"/>
          <p:cNvSpPr txBox="1"/>
          <p:nvPr/>
        </p:nvSpPr>
        <p:spPr>
          <a:xfrm>
            <a:off x="5166360" y="3794760"/>
            <a:ext cx="6217920" cy="292608"/>
          </a:xfrm>
          <a:prstGeom prst="rect">
            <a:avLst/>
          </a:prstGeom>
          <a:noFill/>
          <a:ln/>
        </p:spPr>
        <p:txBody>
          <a:bodyPr wrap="square" lIns="0" tIns="0" rIns="0" bIns="0" rtlCol="0" anchor="t"/>
          <a:lstStyle/>
          <a:p>
            <a:pPr indent="0" marL="0">
              <a:buNone/>
            </a:pPr>
            <a:r>
              <a:rPr lang="en-US" sz="1350" b="1" dirty="0">
                <a:solidFill>
                  <a:srgbClr val="2563EB"/>
                </a:solidFill>
                <a:latin typeface="Calibri" pitchFamily="34" charset="0"/>
                <a:ea typeface="Calibri" pitchFamily="34" charset="-122"/>
                <a:cs typeface="Calibri" pitchFamily="34" charset="-120"/>
              </a:rPr>
              <a:t>5 spatial queries  (search by location)</a:t>
            </a:r>
            <a:endParaRPr lang="en-US" sz="1350" dirty="0"/>
          </a:p>
        </p:txBody>
      </p:sp>
      <p:sp>
        <p:nvSpPr>
          <p:cNvPr id="40" name="Text 37"/>
          <p:cNvSpPr txBox="1"/>
          <p:nvPr/>
        </p:nvSpPr>
        <p:spPr>
          <a:xfrm>
            <a:off x="5166360" y="4133088"/>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Wards touching water or mangrove (1 ha+)</a:t>
            </a:r>
            <a:endParaRPr lang="en-US" sz="1250" dirty="0"/>
          </a:p>
        </p:txBody>
      </p:sp>
      <p:sp>
        <p:nvSpPr>
          <p:cNvPr id="41" name="Text 38"/>
          <p:cNvSpPr txBox="1"/>
          <p:nvPr/>
        </p:nvSpPr>
        <p:spPr>
          <a:xfrm>
            <a:off x="9692640" y="4133088"/>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48 wards</a:t>
            </a:r>
            <a:endParaRPr lang="en-US" sz="1250" dirty="0"/>
          </a:p>
        </p:txBody>
      </p:sp>
      <p:sp>
        <p:nvSpPr>
          <p:cNvPr id="42" name="Text 39"/>
          <p:cNvSpPr txBox="1"/>
          <p:nvPr/>
        </p:nvSpPr>
        <p:spPr>
          <a:xfrm>
            <a:off x="5166360" y="4462272"/>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Wards within 200 m of a major road</a:t>
            </a:r>
            <a:endParaRPr lang="en-US" sz="1250" dirty="0"/>
          </a:p>
        </p:txBody>
      </p:sp>
      <p:sp>
        <p:nvSpPr>
          <p:cNvPr id="43" name="Text 40"/>
          <p:cNvSpPr txBox="1"/>
          <p:nvPr/>
        </p:nvSpPr>
        <p:spPr>
          <a:xfrm>
            <a:off x="9692640" y="4462272"/>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78 wards</a:t>
            </a:r>
            <a:endParaRPr lang="en-US" sz="1250" dirty="0"/>
          </a:p>
        </p:txBody>
      </p:sp>
      <p:sp>
        <p:nvSpPr>
          <p:cNvPr id="44" name="Text 41"/>
          <p:cNvSpPr txBox="1"/>
          <p:nvPr/>
        </p:nvSpPr>
        <p:spPr>
          <a:xfrm>
            <a:off x="5166360" y="4791456"/>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Hospitals in the highest-stress wards</a:t>
            </a:r>
            <a:endParaRPr lang="en-US" sz="1250" dirty="0"/>
          </a:p>
        </p:txBody>
      </p:sp>
      <p:sp>
        <p:nvSpPr>
          <p:cNvPr id="45" name="Text 42"/>
          <p:cNvSpPr txBox="1"/>
          <p:nvPr/>
        </p:nvSpPr>
        <p:spPr>
          <a:xfrm>
            <a:off x="9692640" y="4791456"/>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8 of 93</a:t>
            </a:r>
            <a:endParaRPr lang="en-US" sz="1250" dirty="0"/>
          </a:p>
        </p:txBody>
      </p:sp>
      <p:sp>
        <p:nvSpPr>
          <p:cNvPr id="46" name="Text 43"/>
          <p:cNvSpPr txBox="1"/>
          <p:nvPr/>
        </p:nvSpPr>
        <p:spPr>
          <a:xfrm>
            <a:off x="5166360" y="5120640"/>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Nearest hospital to those wards (mean)</a:t>
            </a:r>
            <a:endParaRPr lang="en-US" sz="1250" dirty="0"/>
          </a:p>
        </p:txBody>
      </p:sp>
      <p:sp>
        <p:nvSpPr>
          <p:cNvPr id="47" name="Text 44"/>
          <p:cNvSpPr txBox="1"/>
          <p:nvPr/>
        </p:nvSpPr>
        <p:spPr>
          <a:xfrm>
            <a:off x="9692640" y="5120640"/>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693 m</a:t>
            </a:r>
            <a:endParaRPr lang="en-US" sz="1250" dirty="0"/>
          </a:p>
        </p:txBody>
      </p:sp>
      <p:sp>
        <p:nvSpPr>
          <p:cNvPr id="48" name="Text 45"/>
          <p:cNvSpPr txBox="1"/>
          <p:nvPr/>
        </p:nvSpPr>
        <p:spPr>
          <a:xfrm>
            <a:off x="5166360" y="5449824"/>
            <a:ext cx="4480560" cy="310896"/>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Ward with the waterlogged APMC site</a:t>
            </a:r>
            <a:endParaRPr lang="en-US" sz="1250" dirty="0"/>
          </a:p>
        </p:txBody>
      </p:sp>
      <p:sp>
        <p:nvSpPr>
          <p:cNvPr id="49" name="Text 46"/>
          <p:cNvSpPr txBox="1"/>
          <p:nvPr/>
        </p:nvSpPr>
        <p:spPr>
          <a:xfrm>
            <a:off x="9692640" y="5449824"/>
            <a:ext cx="1783080" cy="310896"/>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ward 57</a:t>
            </a:r>
            <a:endParaRPr lang="en-US" sz="1250" dirty="0"/>
          </a:p>
        </p:txBody>
      </p:sp>
      <p:sp>
        <p:nvSpPr>
          <p:cNvPr id="50" name="Text 47"/>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51" name="Text 48"/>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6 / 7</a:t>
            </a:r>
            <a:endParaRPr lang="en-US" sz="900" dirty="0"/>
          </a:p>
        </p:txBody>
      </p:sp>
      <p:sp>
        <p:nvSpPr>
          <p:cNvPr id="52" name="Text 49"/>
          <p:cNvSpPr txBox="1"/>
          <p:nvPr/>
        </p:nvSpPr>
        <p:spPr>
          <a:xfrm>
            <a:off x="548640" y="6144768"/>
            <a:ext cx="11091672" cy="274320"/>
          </a:xfrm>
          <a:prstGeom prst="rect">
            <a:avLst/>
          </a:prstGeom>
          <a:noFill/>
          <a:ln/>
        </p:spPr>
        <p:txBody>
          <a:bodyPr wrap="square" lIns="0" tIns="0" rIns="0" bIns="0" rtlCol="0" anchor="t"/>
          <a:lstStyle/>
          <a:p>
            <a:pPr indent="0" marL="0">
              <a:buNone/>
            </a:pPr>
            <a:r>
              <a:rPr lang="en-US" sz="950" i="1" dirty="0">
                <a:solidFill>
                  <a:srgbClr val="64748B"/>
                </a:solidFill>
                <a:latin typeface="Calibri" pitchFamily="34" charset="0"/>
                <a:ea typeface="Calibri" pitchFamily="34" charset="-122"/>
                <a:cs typeface="Calibri" pitchFamily="34" charset="-120"/>
              </a:rPr>
              <a:t>Answers come from the QGIS project (April 2026 data). Thresholds were chosen after looking at the data. Hospitals and roads: OpenStreetMap (may be incomplete).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6  ·  OUTPUT, NEXT STEPS AND CONCLUSION</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What is built, what is next, conclusion</a:t>
            </a:r>
            <a:endParaRPr lang="en-US" sz="3400" dirty="0"/>
          </a:p>
        </p:txBody>
      </p:sp>
      <p:sp>
        <p:nvSpPr>
          <p:cNvPr id="4" name="Shape 2"/>
          <p:cNvSpPr/>
          <p:nvPr/>
        </p:nvSpPr>
        <p:spPr>
          <a:xfrm>
            <a:off x="548640" y="1600200"/>
            <a:ext cx="3566160" cy="4434840"/>
          </a:xfrm>
          <a:prstGeom prst="roundRect">
            <a:avLst>
              <a:gd name="adj" fmla="val 3590"/>
            </a:avLst>
          </a:prstGeom>
          <a:solidFill>
            <a:srgbClr val="F1F5F9"/>
          </a:solidFill>
          <a:ln w="12700">
            <a:solidFill>
              <a:srgbClr val="F1F5F9"/>
            </a:solidFill>
            <a:prstDash val="solid"/>
          </a:ln>
        </p:spPr>
      </p:sp>
      <p:sp>
        <p:nvSpPr>
          <p:cNvPr id="5" name="Text 3"/>
          <p:cNvSpPr txBox="1"/>
          <p:nvPr/>
        </p:nvSpPr>
        <p:spPr>
          <a:xfrm>
            <a:off x="822960" y="1737360"/>
            <a:ext cx="3108960" cy="365760"/>
          </a:xfrm>
          <a:prstGeom prst="rect">
            <a:avLst/>
          </a:prstGeom>
          <a:noFill/>
          <a:ln/>
        </p:spPr>
        <p:txBody>
          <a:bodyPr wrap="square" lIns="0" tIns="0" rIns="0" bIns="0" rtlCol="0" anchor="t"/>
          <a:lstStyle/>
          <a:p>
            <a:pPr indent="0" marL="0">
              <a:buNone/>
            </a:pPr>
            <a:r>
              <a:rPr lang="en-US" sz="1700" b="1" dirty="0">
                <a:solidFill>
                  <a:srgbClr val="0F172A"/>
                </a:solidFill>
                <a:latin typeface="Cambria" pitchFamily="34" charset="0"/>
                <a:ea typeface="Cambria" pitchFamily="34" charset="-122"/>
                <a:cs typeface="Cambria" pitchFamily="34" charset="-120"/>
              </a:rPr>
              <a:t>Delivered</a:t>
            </a:r>
            <a:endParaRPr lang="en-US" sz="1700" dirty="0"/>
          </a:p>
        </p:txBody>
      </p:sp>
      <p:sp>
        <p:nvSpPr>
          <p:cNvPr id="6" name="Shape 4"/>
          <p:cNvSpPr/>
          <p:nvPr/>
        </p:nvSpPr>
        <p:spPr>
          <a:xfrm>
            <a:off x="822960" y="2359152"/>
            <a:ext cx="329184" cy="329184"/>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905256" y="2441448"/>
            <a:ext cx="164592" cy="164592"/>
          </a:xfrm>
          <a:prstGeom prst="rect">
            <a:avLst/>
          </a:prstGeom>
        </p:spPr>
      </p:pic>
      <p:sp>
        <p:nvSpPr>
          <p:cNvPr id="8" name="Text 5"/>
          <p:cNvSpPr txBox="1"/>
          <p:nvPr/>
        </p:nvSpPr>
        <p:spPr>
          <a:xfrm>
            <a:off x="1325880" y="2286000"/>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QGIS project (.qgz)</a:t>
            </a:r>
            <a:endParaRPr lang="en-US" sz="1300" dirty="0"/>
          </a:p>
        </p:txBody>
      </p:sp>
      <p:sp>
        <p:nvSpPr>
          <p:cNvPr id="9" name="Shape 6"/>
          <p:cNvSpPr/>
          <p:nvPr/>
        </p:nvSpPr>
        <p:spPr>
          <a:xfrm>
            <a:off x="822960" y="2962656"/>
            <a:ext cx="329184" cy="329184"/>
          </a:xfrm>
          <a:prstGeom prst="ellipse">
            <a:avLst/>
          </a:prstGeom>
          <a:solidFill>
            <a:srgbClr val="16A34A"/>
          </a:solidFill>
          <a:ln w="12700">
            <a:solidFill>
              <a:srgbClr val="16A34A"/>
            </a:solidFill>
            <a:prstDash val="solid"/>
          </a:ln>
        </p:spPr>
      </p:sp>
      <p:pic>
        <p:nvPicPr>
          <p:cNvPr id="10" name="Image 1" descr="preencoded.png">    </p:cNvPr>
          <p:cNvPicPr>
            <a:picLocks noChangeAspect="1"/>
          </p:cNvPicPr>
          <p:nvPr/>
        </p:nvPicPr>
        <p:blipFill>
          <a:blip r:embed="rId2"/>
          <a:stretch>
            <a:fillRect/>
          </a:stretch>
        </p:blipFill>
        <p:spPr>
          <a:xfrm>
            <a:off x="905256" y="3044952"/>
            <a:ext cx="164592" cy="164592"/>
          </a:xfrm>
          <a:prstGeom prst="rect">
            <a:avLst/>
          </a:prstGeom>
        </p:spPr>
      </p:pic>
      <p:sp>
        <p:nvSpPr>
          <p:cNvPr id="11" name="Text 7"/>
          <p:cNvSpPr txBox="1"/>
          <p:nvPr/>
        </p:nvSpPr>
        <p:spPr>
          <a:xfrm>
            <a:off x="1325880" y="2889504"/>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GeoPackage database (.gpkg)</a:t>
            </a:r>
            <a:endParaRPr lang="en-US" sz="1300" dirty="0"/>
          </a:p>
        </p:txBody>
      </p:sp>
      <p:sp>
        <p:nvSpPr>
          <p:cNvPr id="12" name="Shape 8"/>
          <p:cNvSpPr/>
          <p:nvPr/>
        </p:nvSpPr>
        <p:spPr>
          <a:xfrm>
            <a:off x="822960" y="3566160"/>
            <a:ext cx="329184" cy="329184"/>
          </a:xfrm>
          <a:prstGeom prst="ellipse">
            <a:avLst/>
          </a:prstGeom>
          <a:solidFill>
            <a:srgbClr val="16A34A"/>
          </a:solidFill>
          <a:ln w="12700">
            <a:solidFill>
              <a:srgbClr val="16A34A"/>
            </a:solidFill>
            <a:prstDash val="solid"/>
          </a:ln>
        </p:spPr>
      </p:sp>
      <p:pic>
        <p:nvPicPr>
          <p:cNvPr id="13" name="Image 2" descr="preencoded.png">    </p:cNvPr>
          <p:cNvPicPr>
            <a:picLocks noChangeAspect="1"/>
          </p:cNvPicPr>
          <p:nvPr/>
        </p:nvPicPr>
        <p:blipFill>
          <a:blip r:embed="rId3"/>
          <a:stretch>
            <a:fillRect/>
          </a:stretch>
        </p:blipFill>
        <p:spPr>
          <a:xfrm>
            <a:off x="905256" y="3648456"/>
            <a:ext cx="164592" cy="164592"/>
          </a:xfrm>
          <a:prstGeom prst="rect">
            <a:avLst/>
          </a:prstGeom>
        </p:spPr>
      </p:pic>
      <p:sp>
        <p:nvSpPr>
          <p:cNvPr id="14" name="Text 9"/>
          <p:cNvSpPr txBox="1"/>
          <p:nvPr/>
        </p:nvSpPr>
        <p:spPr>
          <a:xfrm>
            <a:off x="1325880" y="3493008"/>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9 rasters, 10 thematic maps</a:t>
            </a:r>
            <a:endParaRPr lang="en-US" sz="1300" dirty="0"/>
          </a:p>
        </p:txBody>
      </p:sp>
      <p:sp>
        <p:nvSpPr>
          <p:cNvPr id="15" name="Shape 10"/>
          <p:cNvSpPr/>
          <p:nvPr/>
        </p:nvSpPr>
        <p:spPr>
          <a:xfrm>
            <a:off x="822960" y="4169664"/>
            <a:ext cx="329184" cy="329184"/>
          </a:xfrm>
          <a:prstGeom prst="ellipse">
            <a:avLst/>
          </a:prstGeom>
          <a:solidFill>
            <a:srgbClr val="16A34A"/>
          </a:solidFill>
          <a:ln w="12700">
            <a:solidFill>
              <a:srgbClr val="16A34A"/>
            </a:solidFill>
            <a:prstDash val="solid"/>
          </a:ln>
        </p:spPr>
      </p:sp>
      <p:pic>
        <p:nvPicPr>
          <p:cNvPr id="16" name="Image 3" descr="preencoded.png">    </p:cNvPr>
          <p:cNvPicPr>
            <a:picLocks noChangeAspect="1"/>
          </p:cNvPicPr>
          <p:nvPr/>
        </p:nvPicPr>
        <p:blipFill>
          <a:blip r:embed="rId4"/>
          <a:stretch>
            <a:fillRect/>
          </a:stretch>
        </p:blipFill>
        <p:spPr>
          <a:xfrm>
            <a:off x="905256" y="4251960"/>
            <a:ext cx="164592" cy="164592"/>
          </a:xfrm>
          <a:prstGeom prst="rect">
            <a:avLst/>
          </a:prstGeom>
        </p:spPr>
      </p:pic>
      <p:sp>
        <p:nvSpPr>
          <p:cNvPr id="17" name="Text 11"/>
          <p:cNvSpPr txBox="1"/>
          <p:nvPr/>
        </p:nvSpPr>
        <p:spPr>
          <a:xfrm>
            <a:off x="1325880" y="4096512"/>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Final UCSI map with legend, north arrow, scale bar</a:t>
            </a:r>
            <a:endParaRPr lang="en-US" sz="1300" dirty="0"/>
          </a:p>
        </p:txBody>
      </p:sp>
      <p:sp>
        <p:nvSpPr>
          <p:cNvPr id="18" name="Shape 12"/>
          <p:cNvSpPr/>
          <p:nvPr/>
        </p:nvSpPr>
        <p:spPr>
          <a:xfrm>
            <a:off x="822960" y="4773168"/>
            <a:ext cx="329184" cy="329184"/>
          </a:xfrm>
          <a:prstGeom prst="ellipse">
            <a:avLst/>
          </a:prstGeom>
          <a:solidFill>
            <a:srgbClr val="16A34A"/>
          </a:solidFill>
          <a:ln w="12700">
            <a:solidFill>
              <a:srgbClr val="16A34A"/>
            </a:solidFill>
            <a:prstDash val="solid"/>
          </a:ln>
        </p:spPr>
      </p:sp>
      <p:pic>
        <p:nvPicPr>
          <p:cNvPr id="19" name="Image 4" descr="preencoded.png">    </p:cNvPr>
          <p:cNvPicPr>
            <a:picLocks noChangeAspect="1"/>
          </p:cNvPicPr>
          <p:nvPr/>
        </p:nvPicPr>
        <p:blipFill>
          <a:blip r:embed="rId5"/>
          <a:stretch>
            <a:fillRect/>
          </a:stretch>
        </p:blipFill>
        <p:spPr>
          <a:xfrm>
            <a:off x="905256" y="4855464"/>
            <a:ext cx="164592" cy="164592"/>
          </a:xfrm>
          <a:prstGeom prst="rect">
            <a:avLst/>
          </a:prstGeom>
        </p:spPr>
      </p:pic>
      <p:sp>
        <p:nvSpPr>
          <p:cNvPr id="20" name="Text 13"/>
          <p:cNvSpPr txBox="1"/>
          <p:nvPr/>
        </p:nvSpPr>
        <p:spPr>
          <a:xfrm>
            <a:off x="1325880" y="4700016"/>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11 query result pages (5 + 5 + overlay)</a:t>
            </a:r>
            <a:endParaRPr lang="en-US" sz="1300" dirty="0"/>
          </a:p>
        </p:txBody>
      </p:sp>
      <p:sp>
        <p:nvSpPr>
          <p:cNvPr id="21" name="Shape 14"/>
          <p:cNvSpPr/>
          <p:nvPr/>
        </p:nvSpPr>
        <p:spPr>
          <a:xfrm>
            <a:off x="822960" y="5376672"/>
            <a:ext cx="329184" cy="329184"/>
          </a:xfrm>
          <a:prstGeom prst="ellipse">
            <a:avLst/>
          </a:prstGeom>
          <a:solidFill>
            <a:srgbClr val="16A34A"/>
          </a:solidFill>
          <a:ln w="12700">
            <a:solidFill>
              <a:srgbClr val="16A34A"/>
            </a:solidFill>
            <a:prstDash val="solid"/>
          </a:ln>
        </p:spPr>
      </p:sp>
      <p:pic>
        <p:nvPicPr>
          <p:cNvPr id="22" name="Image 5" descr="preencoded.png">    </p:cNvPr>
          <p:cNvPicPr>
            <a:picLocks noChangeAspect="1"/>
          </p:cNvPicPr>
          <p:nvPr/>
        </p:nvPicPr>
        <p:blipFill>
          <a:blip r:embed="rId6"/>
          <a:stretch>
            <a:fillRect/>
          </a:stretch>
        </p:blipFill>
        <p:spPr>
          <a:xfrm>
            <a:off x="905256" y="5458968"/>
            <a:ext cx="164592" cy="164592"/>
          </a:xfrm>
          <a:prstGeom prst="rect">
            <a:avLst/>
          </a:prstGeom>
        </p:spPr>
      </p:pic>
      <p:sp>
        <p:nvSpPr>
          <p:cNvPr id="23" name="Text 15"/>
          <p:cNvSpPr txBox="1"/>
          <p:nvPr/>
        </p:nvSpPr>
        <p:spPr>
          <a:xfrm>
            <a:off x="1325880" y="5303520"/>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Practical report (Word and PDF)</a:t>
            </a:r>
            <a:endParaRPr lang="en-US" sz="1300" dirty="0"/>
          </a:p>
        </p:txBody>
      </p:sp>
      <p:sp>
        <p:nvSpPr>
          <p:cNvPr id="24" name="Shape 16"/>
          <p:cNvSpPr/>
          <p:nvPr/>
        </p:nvSpPr>
        <p:spPr>
          <a:xfrm>
            <a:off x="4311396" y="1600200"/>
            <a:ext cx="3566160" cy="4434840"/>
          </a:xfrm>
          <a:prstGeom prst="roundRect">
            <a:avLst>
              <a:gd name="adj" fmla="val 3590"/>
            </a:avLst>
          </a:prstGeom>
          <a:solidFill>
            <a:srgbClr val="F1F5F9"/>
          </a:solidFill>
          <a:ln w="12700">
            <a:solidFill>
              <a:srgbClr val="F1F5F9"/>
            </a:solidFill>
            <a:prstDash val="solid"/>
          </a:ln>
        </p:spPr>
      </p:sp>
      <p:sp>
        <p:nvSpPr>
          <p:cNvPr id="25" name="Text 17"/>
          <p:cNvSpPr txBox="1"/>
          <p:nvPr/>
        </p:nvSpPr>
        <p:spPr>
          <a:xfrm>
            <a:off x="4585716" y="1737360"/>
            <a:ext cx="3108960" cy="365760"/>
          </a:xfrm>
          <a:prstGeom prst="rect">
            <a:avLst/>
          </a:prstGeom>
          <a:noFill/>
          <a:ln/>
        </p:spPr>
        <p:txBody>
          <a:bodyPr wrap="square" lIns="0" tIns="0" rIns="0" bIns="0" rtlCol="0" anchor="t"/>
          <a:lstStyle/>
          <a:p>
            <a:pPr indent="0" marL="0">
              <a:buNone/>
            </a:pPr>
            <a:r>
              <a:rPr lang="en-US" sz="1700" b="1" dirty="0">
                <a:solidFill>
                  <a:srgbClr val="0F172A"/>
                </a:solidFill>
                <a:latin typeface="Cambria" pitchFamily="34" charset="0"/>
                <a:ea typeface="Cambria" pitchFamily="34" charset="-122"/>
                <a:cs typeface="Cambria" pitchFamily="34" charset="-120"/>
              </a:rPr>
              <a:t>Next steps</a:t>
            </a:r>
            <a:endParaRPr lang="en-US" sz="1700" dirty="0"/>
          </a:p>
        </p:txBody>
      </p:sp>
      <p:sp>
        <p:nvSpPr>
          <p:cNvPr id="26" name="Shape 18"/>
          <p:cNvSpPr/>
          <p:nvPr/>
        </p:nvSpPr>
        <p:spPr>
          <a:xfrm>
            <a:off x="4585716" y="2359152"/>
            <a:ext cx="329184" cy="329184"/>
          </a:xfrm>
          <a:prstGeom prst="ellipse">
            <a:avLst/>
          </a:prstGeom>
          <a:solidFill>
            <a:srgbClr val="EA580C"/>
          </a:solidFill>
          <a:ln w="12700">
            <a:solidFill>
              <a:srgbClr val="EA580C"/>
            </a:solidFill>
            <a:prstDash val="solid"/>
          </a:ln>
        </p:spPr>
      </p:sp>
      <p:pic>
        <p:nvPicPr>
          <p:cNvPr id="27" name="Image 6" descr="preencoded.png">    </p:cNvPr>
          <p:cNvPicPr>
            <a:picLocks noChangeAspect="1"/>
          </p:cNvPicPr>
          <p:nvPr/>
        </p:nvPicPr>
        <p:blipFill>
          <a:blip r:embed="rId7"/>
          <a:stretch>
            <a:fillRect/>
          </a:stretch>
        </p:blipFill>
        <p:spPr>
          <a:xfrm>
            <a:off x="4668012" y="2441448"/>
            <a:ext cx="164592" cy="164592"/>
          </a:xfrm>
          <a:prstGeom prst="rect">
            <a:avLst/>
          </a:prstGeom>
        </p:spPr>
      </p:pic>
      <p:sp>
        <p:nvSpPr>
          <p:cNvPr id="28" name="Text 19"/>
          <p:cNvSpPr txBox="1"/>
          <p:nvPr/>
        </p:nvSpPr>
        <p:spPr>
          <a:xfrm>
            <a:off x="5088636" y="2286000"/>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Run the 5 Google Earth Engine scripts and compare values</a:t>
            </a:r>
            <a:endParaRPr lang="en-US" sz="1300" dirty="0"/>
          </a:p>
        </p:txBody>
      </p:sp>
      <p:sp>
        <p:nvSpPr>
          <p:cNvPr id="29" name="Shape 20"/>
          <p:cNvSpPr/>
          <p:nvPr/>
        </p:nvSpPr>
        <p:spPr>
          <a:xfrm>
            <a:off x="4585716" y="2962656"/>
            <a:ext cx="329184" cy="329184"/>
          </a:xfrm>
          <a:prstGeom prst="ellipse">
            <a:avLst/>
          </a:prstGeom>
          <a:solidFill>
            <a:srgbClr val="EA580C"/>
          </a:solidFill>
          <a:ln w="12700">
            <a:solidFill>
              <a:srgbClr val="EA580C"/>
            </a:solidFill>
            <a:prstDash val="solid"/>
          </a:ln>
        </p:spPr>
      </p:sp>
      <p:pic>
        <p:nvPicPr>
          <p:cNvPr id="30" name="Image 7" descr="preencoded.png">    </p:cNvPr>
          <p:cNvPicPr>
            <a:picLocks noChangeAspect="1"/>
          </p:cNvPicPr>
          <p:nvPr/>
        </p:nvPicPr>
        <p:blipFill>
          <a:blip r:embed="rId8"/>
          <a:stretch>
            <a:fillRect/>
          </a:stretch>
        </p:blipFill>
        <p:spPr>
          <a:xfrm>
            <a:off x="4668012" y="3044952"/>
            <a:ext cx="164592" cy="164592"/>
          </a:xfrm>
          <a:prstGeom prst="rect">
            <a:avLst/>
          </a:prstGeom>
        </p:spPr>
      </p:pic>
      <p:sp>
        <p:nvSpPr>
          <p:cNvPr id="31" name="Text 21"/>
          <p:cNvSpPr txBox="1"/>
          <p:nvPr/>
        </p:nvSpPr>
        <p:spPr>
          <a:xfrm>
            <a:off x="5088636" y="2889504"/>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Add a monsoon-season image</a:t>
            </a:r>
            <a:endParaRPr lang="en-US" sz="1300" dirty="0"/>
          </a:p>
        </p:txBody>
      </p:sp>
      <p:sp>
        <p:nvSpPr>
          <p:cNvPr id="32" name="Shape 22"/>
          <p:cNvSpPr/>
          <p:nvPr/>
        </p:nvSpPr>
        <p:spPr>
          <a:xfrm>
            <a:off x="4585716" y="3566160"/>
            <a:ext cx="329184" cy="329184"/>
          </a:xfrm>
          <a:prstGeom prst="ellipse">
            <a:avLst/>
          </a:prstGeom>
          <a:solidFill>
            <a:srgbClr val="EA580C"/>
          </a:solidFill>
          <a:ln w="12700">
            <a:solidFill>
              <a:srgbClr val="EA580C"/>
            </a:solidFill>
            <a:prstDash val="solid"/>
          </a:ln>
        </p:spPr>
      </p:sp>
      <p:pic>
        <p:nvPicPr>
          <p:cNvPr id="33" name="Image 8" descr="preencoded.png">    </p:cNvPr>
          <p:cNvPicPr>
            <a:picLocks noChangeAspect="1"/>
          </p:cNvPicPr>
          <p:nvPr/>
        </p:nvPicPr>
        <p:blipFill>
          <a:blip r:embed="rId9"/>
          <a:stretch>
            <a:fillRect/>
          </a:stretch>
        </p:blipFill>
        <p:spPr>
          <a:xfrm>
            <a:off x="4668012" y="3648456"/>
            <a:ext cx="164592" cy="164592"/>
          </a:xfrm>
          <a:prstGeom prst="rect">
            <a:avLst/>
          </a:prstGeom>
        </p:spPr>
      </p:pic>
      <p:sp>
        <p:nvSpPr>
          <p:cNvPr id="34" name="Text 23"/>
          <p:cNvSpPr txBox="1"/>
          <p:nvPr/>
        </p:nvSpPr>
        <p:spPr>
          <a:xfrm>
            <a:off x="5088636" y="3493008"/>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Add NMMC's ward-office list</a:t>
            </a:r>
            <a:endParaRPr lang="en-US" sz="1300" dirty="0"/>
          </a:p>
        </p:txBody>
      </p:sp>
      <p:sp>
        <p:nvSpPr>
          <p:cNvPr id="35" name="Shape 24"/>
          <p:cNvSpPr/>
          <p:nvPr/>
        </p:nvSpPr>
        <p:spPr>
          <a:xfrm>
            <a:off x="4585716" y="4169664"/>
            <a:ext cx="329184" cy="329184"/>
          </a:xfrm>
          <a:prstGeom prst="ellipse">
            <a:avLst/>
          </a:prstGeom>
          <a:solidFill>
            <a:srgbClr val="EA580C"/>
          </a:solidFill>
          <a:ln w="12700">
            <a:solidFill>
              <a:srgbClr val="EA580C"/>
            </a:solidFill>
            <a:prstDash val="solid"/>
          </a:ln>
        </p:spPr>
      </p:sp>
      <p:pic>
        <p:nvPicPr>
          <p:cNvPr id="36" name="Image 9" descr="preencoded.png">    </p:cNvPr>
          <p:cNvPicPr>
            <a:picLocks noChangeAspect="1"/>
          </p:cNvPicPr>
          <p:nvPr/>
        </p:nvPicPr>
        <p:blipFill>
          <a:blip r:embed="rId10"/>
          <a:stretch>
            <a:fillRect/>
          </a:stretch>
        </p:blipFill>
        <p:spPr>
          <a:xfrm>
            <a:off x="4668012" y="4251960"/>
            <a:ext cx="164592" cy="164592"/>
          </a:xfrm>
          <a:prstGeom prst="rect">
            <a:avLst/>
          </a:prstGeom>
        </p:spPr>
      </p:pic>
      <p:sp>
        <p:nvSpPr>
          <p:cNvPr id="37" name="Text 25"/>
          <p:cNvSpPr txBox="1"/>
          <p:nvPr/>
        </p:nvSpPr>
        <p:spPr>
          <a:xfrm>
            <a:off x="5088636" y="4096512"/>
            <a:ext cx="2697480" cy="53035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Compare with more flood reports</a:t>
            </a:r>
            <a:endParaRPr lang="en-US" sz="1300" dirty="0"/>
          </a:p>
        </p:txBody>
      </p:sp>
      <p:sp>
        <p:nvSpPr>
          <p:cNvPr id="38" name="Shape 26"/>
          <p:cNvSpPr/>
          <p:nvPr/>
        </p:nvSpPr>
        <p:spPr>
          <a:xfrm>
            <a:off x="8092440" y="1600200"/>
            <a:ext cx="3547872" cy="4434840"/>
          </a:xfrm>
          <a:prstGeom prst="roundRect">
            <a:avLst>
              <a:gd name="adj" fmla="val 3608"/>
            </a:avLst>
          </a:prstGeom>
          <a:solidFill>
            <a:srgbClr val="0F172A"/>
          </a:solidFill>
          <a:ln w="12700">
            <a:solidFill>
              <a:srgbClr val="0F172A"/>
            </a:solidFill>
            <a:prstDash val="solid"/>
          </a:ln>
        </p:spPr>
      </p:sp>
      <p:sp>
        <p:nvSpPr>
          <p:cNvPr id="39" name="Text 27"/>
          <p:cNvSpPr txBox="1"/>
          <p:nvPr/>
        </p:nvSpPr>
        <p:spPr>
          <a:xfrm>
            <a:off x="8366760" y="1737360"/>
            <a:ext cx="3017520" cy="365760"/>
          </a:xfrm>
          <a:prstGeom prst="rect">
            <a:avLst/>
          </a:prstGeom>
          <a:noFill/>
          <a:ln/>
        </p:spPr>
        <p:txBody>
          <a:bodyPr wrap="square" lIns="0" tIns="0" rIns="0" bIns="0" rtlCol="0" anchor="t"/>
          <a:lstStyle/>
          <a:p>
            <a:pPr indent="0" marL="0">
              <a:buNone/>
            </a:pPr>
            <a:r>
              <a:rPr lang="en-US" sz="1700" b="1" dirty="0">
                <a:solidFill>
                  <a:srgbClr val="F59E0B"/>
                </a:solidFill>
                <a:latin typeface="Cambria" pitchFamily="34" charset="0"/>
                <a:ea typeface="Cambria" pitchFamily="34" charset="-122"/>
                <a:cs typeface="Cambria" pitchFamily="34" charset="-120"/>
              </a:rPr>
              <a:t>Conclusion</a:t>
            </a:r>
            <a:endParaRPr lang="en-US" sz="1700" dirty="0"/>
          </a:p>
        </p:txBody>
      </p:sp>
      <p:sp>
        <p:nvSpPr>
          <p:cNvPr id="40" name="Text 28"/>
          <p:cNvSpPr txBox="1"/>
          <p:nvPr/>
        </p:nvSpPr>
        <p:spPr>
          <a:xfrm>
            <a:off x="8366760" y="2240280"/>
            <a:ext cx="3017520" cy="2743200"/>
          </a:xfrm>
          <a:prstGeom prst="rect">
            <a:avLst/>
          </a:prstGeom>
          <a:noFill/>
          <a:ln/>
        </p:spPr>
        <p:txBody>
          <a:bodyPr wrap="square" lIns="0" tIns="0" rIns="0" bIns="0" rtlCol="0" anchor="t"/>
          <a:lstStyle/>
          <a:p>
            <a:pPr indent="0" marL="0">
              <a:spcAft>
                <a:spcPts val="200"/>
              </a:spcAft>
              <a:buNone/>
            </a:pPr>
            <a:r>
              <a:rPr lang="en-US" sz="1350" dirty="0">
                <a:solidFill>
                  <a:srgbClr val="FFFFFF"/>
                </a:solidFill>
                <a:latin typeface="Calibri" pitchFamily="34" charset="0"/>
                <a:ea typeface="Calibri" pitchFamily="34" charset="-122"/>
                <a:cs typeface="Calibri" pitchFamily="34" charset="-120"/>
              </a:rPr>
              <a:t>Stress is concentrated in a few dense wards: 23 wards cover only 8.1 km² but are the hottest, most built-up and least green. Wards 70, 57, 67, 11 and 29 rank highest.</a:t>
            </a:r>
            <a:endParaRPr lang="en-US" sz="1350" dirty="0"/>
          </a:p>
          <a:p>
            <a:pPr indent="0" marL="0">
              <a:spcAft>
                <a:spcPts val="200"/>
              </a:spcAft>
              <a:buNone/>
            </a:pPr>
            <a:endParaRPr lang="en-US" sz="1350" dirty="0"/>
          </a:p>
          <a:p>
            <a:pPr indent="0" marL="0">
              <a:spcAft>
                <a:spcPts val="200"/>
              </a:spcAft>
              <a:buNone/>
            </a:pPr>
            <a:r>
              <a:rPr lang="en-US" sz="1350" dirty="0">
                <a:solidFill>
                  <a:srgbClr val="FFFFFF"/>
                </a:solidFill>
                <a:latin typeface="Calibri" pitchFamily="34" charset="0"/>
                <a:ea typeface="Calibri" pitchFamily="34" charset="-122"/>
                <a:cs typeface="Calibri" pitchFamily="34" charset="-120"/>
              </a:rPr>
              <a:t>UCSI is a planning aid that compares wards. It is not a prediction of floods or heat waves.</a:t>
            </a:r>
            <a:endParaRPr lang="en-US" sz="1350" dirty="0"/>
          </a:p>
        </p:txBody>
      </p:sp>
      <p:sp>
        <p:nvSpPr>
          <p:cNvPr id="41" name="Text 29"/>
          <p:cNvSpPr txBox="1"/>
          <p:nvPr/>
        </p:nvSpPr>
        <p:spPr>
          <a:xfrm>
            <a:off x="8366760" y="5074920"/>
            <a:ext cx="3017520" cy="640080"/>
          </a:xfrm>
          <a:prstGeom prst="rect">
            <a:avLst/>
          </a:prstGeom>
          <a:noFill/>
          <a:ln/>
        </p:spPr>
        <p:txBody>
          <a:bodyPr wrap="square" lIns="0" tIns="0" rIns="0" bIns="0" rtlCol="0" anchor="t"/>
          <a:lstStyle/>
          <a:p>
            <a:pPr indent="0" marL="0">
              <a:buNone/>
            </a:pPr>
            <a:r>
              <a:rPr lang="en-US" sz="1350" b="1" dirty="0">
                <a:solidFill>
                  <a:srgbClr val="F59E0B"/>
                </a:solidFill>
                <a:latin typeface="Calibri" pitchFamily="34" charset="0"/>
                <a:ea typeface="Calibri" pitchFamily="34" charset="-122"/>
                <a:cs typeface="Calibri" pitchFamily="34" charset="-120"/>
              </a:rPr>
              <a:t>Thank you. Suggestions are welcome.</a:t>
            </a:r>
            <a:endParaRPr lang="en-US" sz="1350" dirty="0"/>
          </a:p>
        </p:txBody>
      </p:sp>
      <p:sp>
        <p:nvSpPr>
          <p:cNvPr id="42" name="Text 30"/>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43" name="Text 31"/>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7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BACKUP  ·  FOR QUESTIONS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Where our numbers come from</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5852160"/>
                <a:gridCol w="5239512"/>
              </a:tblGrid>
              <a:tr h="53035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Number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111 wards; 122.9 km² (sum of ward polygons)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Ward polygons from OpenCity / BharatLAS in our GeoPackage; 111 wards also per Wikipedia (NMMC)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Ward temperature 33.7 to 47.6 °C; 23% of the area ≥ 45 °C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Landsat 8/9 Collection 2 Level 2 (13, 22, 30 Apr 2026), median, Planetary Computer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Vegetation index (NDVI)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Sentinel-2 L2A (8 and 11 Apr 2026), Earth Search on AWS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Built-up 33.1%, trees 26.4%, mangrove 13.8%, water 13.3%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ESA WorldCover 2021 (10 m), inside the ward polygons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r = +0.76 (built-up) and −0.75 (NDVI) with temperature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Our calculation, 111 wards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26 May 2025: Nerul 155.7 mm, Belapur 133.9 mm (8:30 am to 4:30 pm)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Free Press Journal, 26 May 2025 (news report)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3035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Flood weights 43 / 27 / 16 / 14; consistency ratio 0.017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AHP calculated by us (elevation, water distance, slope, built-up)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5" name="Text 2"/>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6" name="Text 3"/>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Backup 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BACKUP  ·  FOR QUESTIONS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Scores, weights and checks</a:t>
            </a:r>
            <a:endParaRPr lang="en-US" sz="3400" dirty="0"/>
          </a:p>
        </p:txBody>
      </p:sp>
      <p:sp>
        <p:nvSpPr>
          <p:cNvPr id="4" name="Text 2"/>
          <p:cNvSpPr txBox="1"/>
          <p:nvPr/>
        </p:nvSpPr>
        <p:spPr>
          <a:xfrm>
            <a:off x="548640" y="1508760"/>
            <a:ext cx="5486400" cy="292608"/>
          </a:xfrm>
          <a:prstGeom prst="rect">
            <a:avLst/>
          </a:prstGeom>
          <a:noFill/>
          <a:ln/>
        </p:spPr>
        <p:txBody>
          <a:bodyPr wrap="square" lIns="0" tIns="0" rIns="0" bIns="0" rtlCol="0" anchor="t"/>
          <a:lstStyle/>
          <a:p>
            <a:pPr indent="0" marL="0">
              <a:buNone/>
            </a:pPr>
            <a:r>
              <a:rPr lang="en-US" sz="1400" b="1" dirty="0">
                <a:solidFill>
                  <a:srgbClr val="EA580C"/>
                </a:solidFill>
                <a:latin typeface="Calibri" pitchFamily="34" charset="0"/>
                <a:ea typeface="Calibri" pitchFamily="34" charset="-122"/>
                <a:cs typeface="Calibri" pitchFamily="34" charset="-120"/>
              </a:rPr>
              <a:t>How each indicator becomes a score</a:t>
            </a:r>
            <a:endParaRPr lang="en-US" sz="1400" dirty="0"/>
          </a:p>
        </p:txBody>
      </p:sp>
      <p:sp>
        <p:nvSpPr>
          <p:cNvPr id="5" name="Text 3"/>
          <p:cNvSpPr txBox="1"/>
          <p:nvPr/>
        </p:nvSpPr>
        <p:spPr>
          <a:xfrm>
            <a:off x="548640" y="1828800"/>
            <a:ext cx="5394960" cy="2194560"/>
          </a:xfrm>
          <a:prstGeom prst="rect">
            <a:avLst/>
          </a:prstGeom>
          <a:noFill/>
          <a:ln/>
        </p:spPr>
        <p:txBody>
          <a:bodyPr wrap="square" lIns="0" tIns="0" rIns="0" bIns="0" rtlCol="0" anchor="t"/>
          <a:lstStyle/>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Heat: the ward temperature is stretched to 1 (coolest ward) to 5 (hottest ward).</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Green-cover deficit: the same for NDVI, turned upside down (least vegetation = 5).</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Flood: elevation, slope, distance to water and built-up are scored 1 to 5, then combined with AHP weights.</a:t>
            </a:r>
            <a:endParaRPr lang="en-US" sz="1250" dirty="0"/>
          </a:p>
          <a:p>
            <a:pPr indent="0" marL="0">
              <a:spcAft>
                <a:spcPts val="500"/>
              </a:spcAft>
              <a:buNone/>
            </a:pPr>
            <a:r>
              <a:rPr lang="en-US" sz="1250" dirty="0">
                <a:solidFill>
                  <a:srgbClr val="0F172A"/>
                </a:solidFill>
                <a:latin typeface="Calibri" pitchFamily="34" charset="0"/>
                <a:ea typeface="Calibri" pitchFamily="34" charset="-122"/>
                <a:cs typeface="Calibri" pitchFamily="34" charset="-120"/>
              </a:rPr>
              <a:t>UCSI = (Heat + Green-cover deficit + Flood) ÷ 3.</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9360" y="1554480"/>
          <a:ext cx="5330952" cy="914400"/>
        </p:xfrm>
        <a:graphic>
          <a:graphicData uri="http://schemas.openxmlformats.org/drawingml/2006/table">
            <a:tbl>
              <a:tblPr/>
              <a:tblGrid>
                <a:gridCol w="1554480"/>
                <a:gridCol w="822960"/>
                <a:gridCol w="2953512"/>
              </a:tblGrid>
              <a:tr h="43891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Flood factor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Weight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Score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r>
              <a:tr h="43891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Elevation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up to 5 m = 5 … over 50 m =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3891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Distance to water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up to 250 m = 5 … over 2 km =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3891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Slope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up to 2% = 5 … over 20% =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38912">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Built-up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60%+ = 5 … under 10% =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7" name="Shape 4"/>
          <p:cNvSpPr/>
          <p:nvPr/>
        </p:nvSpPr>
        <p:spPr>
          <a:xfrm>
            <a:off x="6309360" y="4023360"/>
            <a:ext cx="5330952" cy="1737360"/>
          </a:xfrm>
          <a:prstGeom prst="roundRect">
            <a:avLst>
              <a:gd name="adj" fmla="val 7368"/>
            </a:avLst>
          </a:prstGeom>
          <a:solidFill>
            <a:srgbClr val="F1F5F9"/>
          </a:solidFill>
          <a:ln w="12700">
            <a:solidFill>
              <a:srgbClr val="F1F5F9"/>
            </a:solidFill>
            <a:prstDash val="solid"/>
          </a:ln>
        </p:spPr>
      </p:sp>
      <p:sp>
        <p:nvSpPr>
          <p:cNvPr id="8" name="Text 5"/>
          <p:cNvSpPr txBox="1"/>
          <p:nvPr/>
        </p:nvSpPr>
        <p:spPr>
          <a:xfrm>
            <a:off x="6492240" y="4114800"/>
            <a:ext cx="4983480" cy="1600200"/>
          </a:xfrm>
          <a:prstGeom prst="rect">
            <a:avLst/>
          </a:prstGeom>
          <a:noFill/>
          <a:ln/>
        </p:spPr>
        <p:txBody>
          <a:bodyPr wrap="square" lIns="0" tIns="0" rIns="0" bIns="0" rtlCol="0" anchor="t"/>
          <a:lstStyle/>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Does the ranking change if the weights change?</a:t>
            </a:r>
            <a:endParaRPr lang="en-US" sz="1250" dirty="0"/>
          </a:p>
          <a:p>
            <a:pPr indent="0" marL="0">
              <a:spcAft>
                <a:spcPts val="400"/>
              </a:spcAft>
              <a:buNone/>
            </a:pPr>
            <a:r>
              <a:rPr lang="en-US" sz="1250" dirty="0">
                <a:solidFill>
                  <a:srgbClr val="0F172A"/>
                </a:solidFill>
                <a:latin typeface="Calibri" pitchFamily="34" charset="0"/>
                <a:ea typeface="Calibri" pitchFamily="34" charset="-122"/>
                <a:cs typeface="Calibri" pitchFamily="34" charset="-120"/>
              </a:rPr>
              <a:t>Heat-heavy weights (50/25/25): rank correlation 0.983, 7 of the top 10 wards stay.</a:t>
            </a:r>
            <a:endParaRPr lang="en-US" sz="1250" dirty="0"/>
          </a:p>
          <a:p>
            <a:pPr indent="0" marL="0">
              <a:spcAft>
                <a:spcPts val="400"/>
              </a:spcAft>
              <a:buNone/>
            </a:pPr>
            <a:r>
              <a:rPr lang="en-US" sz="1250" dirty="0">
                <a:solidFill>
                  <a:srgbClr val="0F172A"/>
                </a:solidFill>
                <a:latin typeface="Calibri" pitchFamily="34" charset="0"/>
                <a:ea typeface="Calibri" pitchFamily="34" charset="-122"/>
                <a:cs typeface="Calibri" pitchFamily="34" charset="-120"/>
              </a:rPr>
              <a:t>Flood-heavy weights (25/25/50): rank correlation 0.95, 8 of the top 10 wards stay.</a:t>
            </a:r>
            <a:endParaRPr lang="en-US" sz="1250" dirty="0"/>
          </a:p>
        </p:txBody>
      </p:sp>
      <p:sp>
        <p:nvSpPr>
          <p:cNvPr id="9" name="Text 6"/>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10" name="Text 7"/>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Backup 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400" kern="0" dirty="0">
                <a:solidFill>
                  <a:srgbClr val="EA580C"/>
                </a:solidFill>
                <a:latin typeface="Calibri" pitchFamily="34" charset="0"/>
                <a:ea typeface="Calibri" pitchFamily="34" charset="-122"/>
                <a:cs typeface="Calibri" pitchFamily="34" charset="-120"/>
              </a:rPr>
              <a:t>BACKUP  ·  FOR QUESTIONS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400" b="1" dirty="0">
                <a:solidFill>
                  <a:srgbClr val="0F172A"/>
                </a:solidFill>
                <a:latin typeface="Cambria" pitchFamily="34" charset="0"/>
                <a:ea typeface="Cambria" pitchFamily="34" charset="-122"/>
                <a:cs typeface="Cambria" pitchFamily="34" charset="-120"/>
              </a:rPr>
              <a:t>Limits and Plan B</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4754880"/>
                <a:gridCol w="6336792"/>
              </a:tblGrid>
              <a:tr h="5029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How we handle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Google Earth Engine scripts are written but not run yet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The delivered rasters use the same public datasets, processed with Python. Next step: run the scripts and compare (about 41 °C mean LST, NDVI 0.30).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One season only (April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Dry hill slopes also look hot. Next step: add a monsoon-season image and compare.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Thermal bands are 100 m (resampled to 30 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Ward averages are fine; very small wards (ward 70: 0.07 km²) are less reliable.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Surface temperature is not air temperature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We compare wards with each other; we do not claim air temperature.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8 ward offices are not in the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Ward polygons carry only ward numbers. Add NMMC's ward-to-office list, then report by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Flood factors use SRTM (includes buildings and trees) and no tide or drainage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It is a susceptibility index, not a flood forecast.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Hospitals and roads come from OpenStreetMap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Volunteer data, may be incomplete. Distances are straight lines.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5" name="Text 2"/>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Urban Climate Stress Mapping of Navi Mumbai  ·  Hasnat Shaikh</a:t>
            </a:r>
            <a:endParaRPr lang="en-US" sz="900" dirty="0"/>
          </a:p>
        </p:txBody>
      </p:sp>
      <p:sp>
        <p:nvSpPr>
          <p:cNvPr id="6" name="Text 3"/>
          <p:cNvSpPr txBox="1"/>
          <p:nvPr/>
        </p:nvSpPr>
        <p:spPr>
          <a:xfrm>
            <a:off x="10177272" y="6473952"/>
            <a:ext cx="1463040" cy="228600"/>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Backup 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MGM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Climate Stress Mapping of Navi Mumbai – CA3</dc:title>
  <dc:subject>PptxGenJS Presentation</dc:subject>
  <dc:creator>Hasnat Shaikh</dc:creator>
  <cp:lastModifiedBy>Hasnat Shaikh</cp:lastModifiedBy>
  <cp:revision>1</cp:revision>
  <dcterms:created xsi:type="dcterms:W3CDTF">2026-09-26T19:32:02Z</dcterms:created>
  <dcterms:modified xsi:type="dcterms:W3CDTF">2026-09-26T19:32:02Z</dcterms:modified>
</cp:coreProperties>
</file>